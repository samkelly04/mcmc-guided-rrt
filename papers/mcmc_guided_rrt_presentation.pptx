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40266" rtl="0" fontAlgn="auto" latinLnBrk="0" hangingPunct="0">
      <a:lnSpc>
        <a:spcPct val="100000"/>
      </a:lnSpc>
      <a:spcBef>
        <a:spcPts val="3100"/>
      </a:spcBef>
      <a:spcAft>
        <a:spcPts val="0"/>
      </a:spcAft>
      <a:buClrTx/>
      <a:buSzTx/>
      <a:buFontTx/>
      <a:buNone/>
      <a:tabLst/>
      <a:defRPr b="0" baseline="0" cap="none" i="0" spc="0" strike="noStrike" sz="2400" u="none" kumimoji="0" normalizeH="0">
        <a:ln>
          <a:noFill/>
        </a:ln>
        <a:solidFill>
          <a:srgbClr val="000000"/>
        </a:solidFill>
        <a:effectLst/>
        <a:uFillTx/>
        <a:latin typeface="Helvetica Neue"/>
        <a:ea typeface="Helvetica Neue"/>
        <a:cs typeface="Helvetica Neue"/>
        <a:sym typeface="Helvetica Neue"/>
      </a:defRPr>
    </a:lvl1pPr>
    <a:lvl2pPr marL="0" marR="0" indent="457200" algn="l" defTabSz="440266" rtl="0" fontAlgn="auto" latinLnBrk="0" hangingPunct="0">
      <a:lnSpc>
        <a:spcPct val="100000"/>
      </a:lnSpc>
      <a:spcBef>
        <a:spcPts val="3100"/>
      </a:spcBef>
      <a:spcAft>
        <a:spcPts val="0"/>
      </a:spcAft>
      <a:buClrTx/>
      <a:buSzTx/>
      <a:buFontTx/>
      <a:buNone/>
      <a:tabLst/>
      <a:defRPr b="0" baseline="0" cap="none" i="0" spc="0" strike="noStrike" sz="2400" u="none" kumimoji="0" normalizeH="0">
        <a:ln>
          <a:noFill/>
        </a:ln>
        <a:solidFill>
          <a:srgbClr val="000000"/>
        </a:solidFill>
        <a:effectLst/>
        <a:uFillTx/>
        <a:latin typeface="Helvetica Neue"/>
        <a:ea typeface="Helvetica Neue"/>
        <a:cs typeface="Helvetica Neue"/>
        <a:sym typeface="Helvetica Neue"/>
      </a:defRPr>
    </a:lvl2pPr>
    <a:lvl3pPr marL="0" marR="0" indent="914400" algn="l" defTabSz="440266" rtl="0" fontAlgn="auto" latinLnBrk="0" hangingPunct="0">
      <a:lnSpc>
        <a:spcPct val="100000"/>
      </a:lnSpc>
      <a:spcBef>
        <a:spcPts val="3100"/>
      </a:spcBef>
      <a:spcAft>
        <a:spcPts val="0"/>
      </a:spcAft>
      <a:buClrTx/>
      <a:buSzTx/>
      <a:buFontTx/>
      <a:buNone/>
      <a:tabLst/>
      <a:defRPr b="0" baseline="0" cap="none" i="0" spc="0" strike="noStrike" sz="2400" u="none" kumimoji="0" normalizeH="0">
        <a:ln>
          <a:noFill/>
        </a:ln>
        <a:solidFill>
          <a:srgbClr val="000000"/>
        </a:solidFill>
        <a:effectLst/>
        <a:uFillTx/>
        <a:latin typeface="Helvetica Neue"/>
        <a:ea typeface="Helvetica Neue"/>
        <a:cs typeface="Helvetica Neue"/>
        <a:sym typeface="Helvetica Neue"/>
      </a:defRPr>
    </a:lvl3pPr>
    <a:lvl4pPr marL="0" marR="0" indent="1371600" algn="l" defTabSz="440266" rtl="0" fontAlgn="auto" latinLnBrk="0" hangingPunct="0">
      <a:lnSpc>
        <a:spcPct val="100000"/>
      </a:lnSpc>
      <a:spcBef>
        <a:spcPts val="3100"/>
      </a:spcBef>
      <a:spcAft>
        <a:spcPts val="0"/>
      </a:spcAft>
      <a:buClrTx/>
      <a:buSzTx/>
      <a:buFontTx/>
      <a:buNone/>
      <a:tabLst/>
      <a:defRPr b="0" baseline="0" cap="none" i="0" spc="0" strike="noStrike" sz="2400" u="none" kumimoji="0" normalizeH="0">
        <a:ln>
          <a:noFill/>
        </a:ln>
        <a:solidFill>
          <a:srgbClr val="000000"/>
        </a:solidFill>
        <a:effectLst/>
        <a:uFillTx/>
        <a:latin typeface="Helvetica Neue"/>
        <a:ea typeface="Helvetica Neue"/>
        <a:cs typeface="Helvetica Neue"/>
        <a:sym typeface="Helvetica Neue"/>
      </a:defRPr>
    </a:lvl4pPr>
    <a:lvl5pPr marL="0" marR="0" indent="1828800" algn="l" defTabSz="440266" rtl="0" fontAlgn="auto" latinLnBrk="0" hangingPunct="0">
      <a:lnSpc>
        <a:spcPct val="100000"/>
      </a:lnSpc>
      <a:spcBef>
        <a:spcPts val="3100"/>
      </a:spcBef>
      <a:spcAft>
        <a:spcPts val="0"/>
      </a:spcAft>
      <a:buClrTx/>
      <a:buSzTx/>
      <a:buFontTx/>
      <a:buNone/>
      <a:tabLst/>
      <a:defRPr b="0" baseline="0" cap="none" i="0" spc="0" strike="noStrike" sz="2400" u="none" kumimoji="0" normalizeH="0">
        <a:ln>
          <a:noFill/>
        </a:ln>
        <a:solidFill>
          <a:srgbClr val="000000"/>
        </a:solidFill>
        <a:effectLst/>
        <a:uFillTx/>
        <a:latin typeface="Helvetica Neue"/>
        <a:ea typeface="Helvetica Neue"/>
        <a:cs typeface="Helvetica Neue"/>
        <a:sym typeface="Helvetica Neue"/>
      </a:defRPr>
    </a:lvl5pPr>
    <a:lvl6pPr marL="0" marR="0" indent="2286000" algn="l" defTabSz="440266" rtl="0" fontAlgn="auto" latinLnBrk="0" hangingPunct="0">
      <a:lnSpc>
        <a:spcPct val="100000"/>
      </a:lnSpc>
      <a:spcBef>
        <a:spcPts val="3100"/>
      </a:spcBef>
      <a:spcAft>
        <a:spcPts val="0"/>
      </a:spcAft>
      <a:buClrTx/>
      <a:buSzTx/>
      <a:buFontTx/>
      <a:buNone/>
      <a:tabLst/>
      <a:defRPr b="0" baseline="0" cap="none" i="0" spc="0" strike="noStrike" sz="2400" u="none" kumimoji="0" normalizeH="0">
        <a:ln>
          <a:noFill/>
        </a:ln>
        <a:solidFill>
          <a:srgbClr val="000000"/>
        </a:solidFill>
        <a:effectLst/>
        <a:uFillTx/>
        <a:latin typeface="Helvetica Neue"/>
        <a:ea typeface="Helvetica Neue"/>
        <a:cs typeface="Helvetica Neue"/>
        <a:sym typeface="Helvetica Neue"/>
      </a:defRPr>
    </a:lvl6pPr>
    <a:lvl7pPr marL="0" marR="0" indent="2743200" algn="l" defTabSz="440266" rtl="0" fontAlgn="auto" latinLnBrk="0" hangingPunct="0">
      <a:lnSpc>
        <a:spcPct val="100000"/>
      </a:lnSpc>
      <a:spcBef>
        <a:spcPts val="3100"/>
      </a:spcBef>
      <a:spcAft>
        <a:spcPts val="0"/>
      </a:spcAft>
      <a:buClrTx/>
      <a:buSzTx/>
      <a:buFontTx/>
      <a:buNone/>
      <a:tabLst/>
      <a:defRPr b="0" baseline="0" cap="none" i="0" spc="0" strike="noStrike" sz="2400" u="none" kumimoji="0" normalizeH="0">
        <a:ln>
          <a:noFill/>
        </a:ln>
        <a:solidFill>
          <a:srgbClr val="000000"/>
        </a:solidFill>
        <a:effectLst/>
        <a:uFillTx/>
        <a:latin typeface="Helvetica Neue"/>
        <a:ea typeface="Helvetica Neue"/>
        <a:cs typeface="Helvetica Neue"/>
        <a:sym typeface="Helvetica Neue"/>
      </a:defRPr>
    </a:lvl7pPr>
    <a:lvl8pPr marL="0" marR="0" indent="3200400" algn="l" defTabSz="440266" rtl="0" fontAlgn="auto" latinLnBrk="0" hangingPunct="0">
      <a:lnSpc>
        <a:spcPct val="100000"/>
      </a:lnSpc>
      <a:spcBef>
        <a:spcPts val="3100"/>
      </a:spcBef>
      <a:spcAft>
        <a:spcPts val="0"/>
      </a:spcAft>
      <a:buClrTx/>
      <a:buSzTx/>
      <a:buFontTx/>
      <a:buNone/>
      <a:tabLst/>
      <a:defRPr b="0" baseline="0" cap="none" i="0" spc="0" strike="noStrike" sz="2400" u="none" kumimoji="0" normalizeH="0">
        <a:ln>
          <a:noFill/>
        </a:ln>
        <a:solidFill>
          <a:srgbClr val="000000"/>
        </a:solidFill>
        <a:effectLst/>
        <a:uFillTx/>
        <a:latin typeface="Helvetica Neue"/>
        <a:ea typeface="Helvetica Neue"/>
        <a:cs typeface="Helvetica Neue"/>
        <a:sym typeface="Helvetica Neue"/>
      </a:defRPr>
    </a:lvl8pPr>
    <a:lvl9pPr marL="0" marR="0" indent="3657600" algn="l" defTabSz="440266" rtl="0" fontAlgn="auto" latinLnBrk="0" hangingPunct="0">
      <a:lnSpc>
        <a:spcPct val="100000"/>
      </a:lnSpc>
      <a:spcBef>
        <a:spcPts val="3100"/>
      </a:spcBef>
      <a:spcAft>
        <a:spcPts val="0"/>
      </a:spcAft>
      <a:buClrTx/>
      <a:buSzTx/>
      <a:buFontTx/>
      <a:buNone/>
      <a:tabLst/>
      <a:defRPr b="0" baseline="0" cap="none" i="0" spc="0" strike="noStrike" sz="2400" u="none" kumimoji="0" normalizeH="0">
        <a:ln>
          <a:noFill/>
        </a:ln>
        <a:solidFill>
          <a:srgbClr val="000000"/>
        </a:solidFill>
        <a:effectLst/>
        <a:uFillTx/>
        <a:latin typeface="Helvetica Neue"/>
        <a:ea typeface="Helvetica Neue"/>
        <a:cs typeface="Helvetica Neue"/>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b="def" i="def"/>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3175" cap="flat">
              <a:noFill/>
              <a:miter lim="400000"/>
            </a:ln>
          </a:right>
          <a:top>
            <a:ln w="12700" cap="flat">
              <a:noFill/>
              <a:miter lim="400000"/>
            </a:ln>
          </a:top>
          <a:bottom>
            <a:ln w="12700" cap="flat">
              <a:noFill/>
              <a:miter lim="400000"/>
            </a:ln>
          </a:bottom>
          <a:insideH>
            <a:ln w="12700" cap="flat">
              <a:noFill/>
              <a:miter lim="400000"/>
            </a:ln>
          </a:insideH>
          <a:insideV>
            <a:ln w="3175"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3175" cap="flat">
              <a:solidFill>
                <a:srgbClr val="3797C6"/>
              </a:solidFill>
              <a:prstDash val="solid"/>
              <a:miter lim="400000"/>
            </a:ln>
          </a:top>
          <a:bottom>
            <a:ln w="12700" cap="flat">
              <a:noFill/>
              <a:miter lim="400000"/>
            </a:ln>
          </a:bottom>
          <a:insideH>
            <a:ln w="3175"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3175" cap="flat">
              <a:noFill/>
              <a:miter lim="400000"/>
            </a:ln>
          </a:bottom>
          <a:insideH>
            <a:ln w="3175"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3175" cap="flat">
              <a:solidFill>
                <a:srgbClr val="B8B8B8"/>
              </a:solidFill>
              <a:prstDash val="solid"/>
              <a:miter lim="400000"/>
            </a:ln>
          </a:left>
          <a:right>
            <a:ln w="3175" cap="flat">
              <a:solidFill>
                <a:srgbClr val="B8B8B8"/>
              </a:solidFill>
              <a:prstDash val="solid"/>
              <a:miter lim="400000"/>
            </a:ln>
          </a:right>
          <a:top>
            <a:ln w="3175" cap="flat">
              <a:solidFill>
                <a:srgbClr val="B8B8B8"/>
              </a:solidFill>
              <a:prstDash val="solid"/>
              <a:miter lim="400000"/>
            </a:ln>
          </a:top>
          <a:bottom>
            <a:ln w="3175" cap="flat">
              <a:solidFill>
                <a:srgbClr val="B8B8B8"/>
              </a:solidFill>
              <a:prstDash val="solid"/>
              <a:miter lim="400000"/>
            </a:ln>
          </a:bottom>
          <a:insideH>
            <a:ln w="3175" cap="flat">
              <a:solidFill>
                <a:srgbClr val="B8B8B8"/>
              </a:solidFill>
              <a:prstDash val="solid"/>
              <a:miter lim="400000"/>
            </a:ln>
          </a:insideH>
          <a:insideV>
            <a:ln w="3175" cap="flat">
              <a:solidFill>
                <a:srgbClr val="B8B8B8"/>
              </a:solidFill>
              <a:prstDash val="solid"/>
              <a:miter lim="400000"/>
            </a:ln>
          </a:insideV>
        </a:tcBdr>
        <a:fill>
          <a:solidFill>
            <a:srgbClr val="EBEBEB"/>
          </a:solidFill>
        </a:fill>
      </a:tcStyle>
    </a:wholeTbl>
    <a:band2H>
      <a:tcTxStyle b="def" i="def"/>
      <a:tcStyle>
        <a:tcBdr/>
        <a:fill>
          <a:solidFill>
            <a:srgbClr val="E1E0DA"/>
          </a:solidFill>
        </a:fill>
      </a:tcStyle>
    </a:band2H>
    <a:firstCol>
      <a:tcTxStyle b="off" i="off">
        <a:fontRef idx="minor">
          <a:srgbClr val="FFFFFF"/>
        </a:fontRef>
        <a:srgbClr val="FFFFFF"/>
      </a:tcTxStyle>
      <a:tcStyle>
        <a:tcBdr>
          <a:left>
            <a:ln w="3175" cap="flat">
              <a:solidFill>
                <a:srgbClr val="606060"/>
              </a:solidFill>
              <a:prstDash val="solid"/>
              <a:miter lim="400000"/>
            </a:ln>
          </a:left>
          <a:right>
            <a:ln w="3175" cap="flat">
              <a:solidFill>
                <a:srgbClr val="606060"/>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606060"/>
              </a:solidFill>
              <a:prstDash val="solid"/>
              <a:miter lim="400000"/>
            </a:ln>
          </a:insideH>
          <a:insideV>
            <a:ln w="3175"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3175" cap="flat">
              <a:solidFill>
                <a:srgbClr val="606060"/>
              </a:solidFill>
              <a:prstDash val="solid"/>
              <a:miter lim="400000"/>
            </a:ln>
          </a:left>
          <a:right>
            <a:ln w="3175" cap="flat">
              <a:solidFill>
                <a:srgbClr val="606060"/>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606060"/>
              </a:solidFill>
              <a:prstDash val="solid"/>
              <a:miter lim="400000"/>
            </a:ln>
          </a:insideH>
          <a:insideV>
            <a:ln w="3175"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3175" cap="flat">
              <a:solidFill>
                <a:srgbClr val="929292"/>
              </a:solidFill>
              <a:prstDash val="solid"/>
              <a:miter lim="400000"/>
            </a:ln>
          </a:left>
          <a:right>
            <a:ln w="3175" cap="flat">
              <a:solidFill>
                <a:srgbClr val="929292"/>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929292"/>
              </a:solidFill>
              <a:prstDash val="solid"/>
              <a:miter lim="400000"/>
            </a:ln>
          </a:insideH>
          <a:insideV>
            <a:ln w="3175"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3175" cap="flat">
              <a:solidFill>
                <a:srgbClr val="5D5D5D"/>
              </a:solidFill>
              <a:custDash>
                <a:ds d="200000" sp="200000"/>
              </a:custDash>
              <a:miter lim="400000"/>
            </a:ln>
          </a:left>
          <a:right>
            <a:ln w="3175" cap="flat">
              <a:solidFill>
                <a:srgbClr val="5D5D5D"/>
              </a:solidFill>
              <a:custDash>
                <a:ds d="200000" sp="200000"/>
              </a:custDash>
              <a:miter lim="400000"/>
            </a:ln>
          </a:right>
          <a:top>
            <a:ln w="3175" cap="flat">
              <a:solidFill>
                <a:srgbClr val="5D5D5D"/>
              </a:solidFill>
              <a:custDash>
                <a:ds d="200000" sp="200000"/>
              </a:custDash>
              <a:miter lim="400000"/>
            </a:ln>
          </a:top>
          <a:bottom>
            <a:ln w="3175" cap="flat">
              <a:solidFill>
                <a:srgbClr val="5D5D5D"/>
              </a:solidFill>
              <a:custDash>
                <a:ds d="200000" sp="200000"/>
              </a:custDash>
              <a:miter lim="400000"/>
            </a:ln>
          </a:bottom>
          <a:insideH>
            <a:ln w="3175" cap="flat">
              <a:solidFill>
                <a:srgbClr val="5D5D5D"/>
              </a:solidFill>
              <a:custDash>
                <a:ds d="200000" sp="200000"/>
              </a:custDash>
              <a:miter lim="400000"/>
            </a:ln>
          </a:insideH>
          <a:insideV>
            <a:ln w="3175" cap="flat">
              <a:solidFill>
                <a:srgbClr val="5D5D5D"/>
              </a:solidFill>
              <a:custDash>
                <a:ds d="200000" sp="200000"/>
              </a:custDash>
              <a:miter lim="400000"/>
            </a:ln>
          </a:insideV>
        </a:tcBdr>
        <a:fill>
          <a:solidFill>
            <a:srgbClr val="FAF7E9"/>
          </a:solidFill>
        </a:fill>
      </a:tcStyle>
    </a:wholeTbl>
    <a:band2H>
      <a:tcTxStyle b="def" i="def"/>
      <a:tcStyle>
        <a:tcBdr/>
        <a:fill>
          <a:solidFill>
            <a:srgbClr val="EDEADD"/>
          </a:solidFill>
        </a:fill>
      </a:tcStyle>
    </a:band2H>
    <a:firstCol>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EBEBEB"/>
          </a:solidFill>
        </a:fill>
      </a:tcStyle>
    </a:wholeTbl>
    <a:band2H>
      <a:tcTxStyle b="def" i="def"/>
      <a:tcStyle>
        <a:tcBdr/>
        <a:fill>
          <a:solidFill>
            <a:srgbClr val="DADBDA"/>
          </a:solidFill>
        </a:fill>
      </a:tcStyle>
    </a:band2H>
    <a:firstCol>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B5B5C1"/>
          </a:solidFill>
        </a:fill>
      </a:tcStyle>
    </a:wholeTbl>
    <a:band2H>
      <a:tcTxStyle b="def" i="def"/>
      <a:tcStyle>
        <a:tcBdr/>
        <a:fill>
          <a:solidFill>
            <a:srgbClr val="9A9AA5"/>
          </a:solidFill>
        </a:fill>
      </a:tcStyle>
    </a:band2H>
    <a:firstCol>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wholeTbl>
    <a:band2H>
      <a:tcTxStyle b="def" i="def"/>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3175" cap="flat">
              <a:solidFill>
                <a:srgbClr val="000000"/>
              </a:solidFill>
              <a:prstDash val="solid"/>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3175" cap="flat">
              <a:solidFill>
                <a:srgbClr val="000000"/>
              </a:solidFill>
              <a:prstDash val="solid"/>
              <a:miter lim="400000"/>
            </a:ln>
          </a:top>
          <a:bottom>
            <a:ln w="12700" cap="flat">
              <a:noFill/>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12700" cap="flat">
              <a:noFill/>
              <a:miter lim="400000"/>
            </a:ln>
          </a:top>
          <a:bottom>
            <a:ln w="3175" cap="flat">
              <a:solidFill>
                <a:srgbClr val="000000"/>
              </a:solidFill>
              <a:prstDash val="solid"/>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standalone='yes'?>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34" name="Shape 134"/>
          <p:cNvSpPr/>
          <p:nvPr>
            <p:ph type="sldImg"/>
          </p:nvPr>
        </p:nvSpPr>
        <p:spPr>
          <a:xfrm>
            <a:off x="1143000" y="685800"/>
            <a:ext cx="4572000" cy="3429000"/>
          </a:xfrm>
          <a:prstGeom prst="rect">
            <a:avLst/>
          </a:prstGeom>
        </p:spPr>
        <p:txBody>
          <a:bodyPr/>
          <a:lstStyle/>
          <a:p>
            <a:pPr/>
          </a:p>
        </p:txBody>
      </p:sp>
      <p:sp>
        <p:nvSpPr>
          <p:cNvPr id="135" name="Shape 13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Open: imagine a search-and-rescue robot dropped into a partially mapped building. A radio signal localizes the goal within a few meters, not exactly. Most planners assume the goal is a known point. What happens when the goal itself is a probability distribution? That's the question this system tries to address.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The setting is standard robot motion planning: given a continuous configuration space — in our case the 2D plane — find a collision-free path from a start to a goal. Grid-based methods are the obvious first attempt, but they scale exponentially with dimension and break down when obstacle geometry is irregular. Trajectory optimization is faster but gets trapped in local minima whenever the obstacle set is non-convex, which is essentially always in real environments.</a:t>
            </a:r>
          </a:p>
          <a:p/>
          <a:p>
            <a:r>
              <a:t>Sampling-based planners sidestep both problems. The Rapidly-exploring Random Tree — RRT — grows a tree from the start by repeatedly sampling a random configuration, finding its nearest neighbor in the tree with a KD-tree lookup, and steering toward it by a fixed step size. The result is a space-filling tree that's fast to build and, in the limit, probabilistically complete.</a:t>
            </a:r>
          </a:p>
          <a:p/>
          <a:p>
            <a:r>
              <a:t>The catch — and this is the starting point for everything that follows — is that vanilla RRT samples uniformly from free space. It has no model of where the goal is, and no way to exploit prior information. That's fine if the goal is a known point. It becomes a problem when the goal is uncertain.</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Once you accept that uniform sampling is inefficient, the natural fix is to bias toward the goal. Goal-biased RRT does this literally — with some probability p, usually five to ten percent, you sample the goal location directly instead of a random point. RRT-Connect goes further and grows two trees simultaneously, one from the start and one from the goal, connecting them in the middle. Informed RRT-star is more principled: once you have any path, you restrict future samples to the ellipsoidal region that could possibly improve it.</a:t>
            </a:r>
          </a:p>
          <a:p/>
          <a:p>
            <a:r>
              <a:t>All three of these are better than uniform RRT — but they all share a hidden assumption: that the goal is a known, fixed point in free space. In practice, that assumption breaks in exactly the situations where you most want a planner. Search and rescue: you know roughly where a person is from a radio signal, but not exactly. Autonomous exploration: your sensor flagged a region of interest, but the estimate has noise. In every case, what you actually have is a distribution over the goal location — and none of the standard methods know what to do with that.</a:t>
            </a:r>
          </a:p>
          <a:p/>
          <a:p>
            <a:r>
              <a:t>Our angle: represent the goal as a Gaussian belief, update it from noisy range observations as the robot moves, and build a sampler that acts on the belief rather than a fixed point. The right panel shows the structure — we'll get into the mechanics next.</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For evaluation we needed environments with controllable difficulty and varied topology, so we built a procedural maze generator. The algorithm runs a random walk over a discrete grid — ten-by-ten cells for easy, twenty-by-twenty for medium, thirty-by-thirty for hard — carving passages as it goes. That gives you the connectivity structure.</a:t>
            </a:r>
          </a:p>
          <a:p/>
          <a:p>
            <a:r>
              <a:t>The key implementation point is that those grid cells never appear in the actual planner. The maze walls get converted to rectangular Shapely polygons in a continuous hundred-by-hundred unit coordinate space, and the RRT samples from that continuous space using exact geometric collision checks — not lookups into a grid.</a:t>
            </a:r>
          </a:p>
          <a:p/>
          <a:p>
            <a:r>
              <a:t>You can see the three difficulty levels here: easy has open corridors and few decision points, medium starts creating bottlenecks, and hard has dense walls with many narrow passages that are easy to miss. Start is always bottom-left, goal is always top-right, and crucially — the planner only ever receives a noisy distance estimate to the goal, not its location.</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So now that we know what environment we're operating in, let's look at how the full system fits together before we go into any individual component.</a:t>
            </a:r>
          </a:p>
          <a:p/>
          <a:p>
            <a:r>
              <a:t>The planner runs as a continuous loop across five stages. The robot takes a noisy distance observation to the goal — that's the sense step. That observation feeds a Kalman filter update, which refines the Gaussian belief over goal location. The updated belief then feeds the sampler, which is where the core contribution lives — we'll get to that next. The sampler produces candidate configurations, the RRT extends the tree toward them, and the robot executes a partial path before the loop repeats.</a:t>
            </a:r>
          </a:p>
          <a:p/>
          <a:p>
            <a:r>
              <a:t>A few implementation details worth flagging: collision checking is done via Shapely polygon intersection at about 0.33 milliseconds per query, nearest-neighbor search uses a scipy KD-tree at O(log n), and each planning episode runs up to fifteen thousand RRT iterations. The MCMC chain runs Metropolis-Hastings targeting a Boltzmann distribution at temperature ten — that distribution is defined by the cost function we'll see on slide seven.</a:t>
            </a:r>
          </a:p>
          <a:p/>
          <a:p>
            <a:r>
              <a:t>The loop doesn't replan on every step. It replans only when the entropy of the belief distribution drops past a threshold — meaning the robot learned something meaningful about where the goal is. That's the trigger condition shown at the bottom.</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The sampler is the central engineering contribution, so let's be precise about what it does.</a:t>
            </a:r>
          </a:p>
          <a:p/>
          <a:p>
            <a:r>
              <a:t>At each iteration we need a candidate configuration to grow the RRT toward. The formula at the top is how we get it: with probability one-minus-lambda we draw from an MCMC chain, and with probability lambda we draw uniformly at random from free space. In our experiments lambda is fixed at 0.30.</a:t>
            </a:r>
          </a:p>
          <a:p/>
          <a:p>
            <a:r>
              <a:t>The reason you need the mix comes down to probabilistic completeness. Pure MCMC concentrates its mass around the current belief mean — wherever we think the goal is. If that estimate is wrong early in the mission, the chain gets stuck, the tree stops exploring, and the planner can fail even when a valid path exists. The thirty percent uniform component is what prevents that. It guarantees the tree will eventually reach any reachable configuration regardless of where the belief is pointing.</a:t>
            </a:r>
          </a:p>
          <a:p/>
          <a:p>
            <a:r>
              <a:t>On the MCMC side: the chain runs Metropolis-Hastings with a Gaussian proposal at standard deviation five, and the target distribution is Boltzmann — pi of q proportional to exp of negative J of q over T, with temperature ten. The chain state is preserved between planning rounds so it doesn't restart cold. The practical payoff is that once the belief converges and the chain is mixing well near the true goal region, you can tune lambda down and get more focused sampling — it's a knob that tracks uncertainty.</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That Boltzmann distribution the MCMC chain targets is defined by this cost function — so let's unpack it.</a:t>
            </a:r>
          </a:p>
          <a:p/>
          <a:p>
            <a:r>
              <a:t>J of q has three terms. The first is just Euclidean distance to the belief mean mu. This is convex with a global minimum at mu, which is exactly what you want for MCMC — no gradient reversals, no saddle points, the chain mixes cleanly. Weight lambda-g is one.</a:t>
            </a:r>
          </a:p>
          <a:p/>
          <a:p>
            <a:r>
              <a:t>The second term is a clearance penalty: lambda-c over d-obs of q plus epsilon, where d-obs is the minimum distance to any obstacle boundary. This creates a repulsive potential that grows as the robot approaches walls. Anything in collision or out of bounds gets assigned infinite cost — a hard constraint. Weight lambda-c is zero point five.</a:t>
            </a:r>
          </a:p>
          <a:p/>
          <a:p>
            <a:r>
              <a:t>The third term is where the active perception idea lives. For any candidate configuration q, we simulate what would happen if the robot took a sensor reading from there — we run a hypothetical Kalman update and compute how much the total variance of the belief would shrink. That expected reduction in det-Sigma is the information gain. We subtract it from the cost, so high-information positions are cheaper to visit. Weight lambda-i is two.</a:t>
            </a:r>
          </a:p>
          <a:p/>
          <a:p>
            <a:r>
              <a:t>The net effect is that the sampler naturally trades off three things at once: get closer to the likely goal, stay away from walls, and prefer positions where looking would actually tell you something. As the belief converges and Sigma shrinks, the third term vanishes on its own — no manual schedule needed.</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Standard Kalman filter update. The sensor reports noisy distance to the true goal. Noise variance grows with distance so early observations (far from the goal) are less informative. The covariance matrix shrinks monotonically with each update, so the belief can only sharpen. The right panel shows this convergence across all trials.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The receding horizon scheme bounds compute by only replanning when the belief actually changed significantly. The entropy drop threshold means the agent replans when a new observation meaningfully updates its estimate of where the goal is. On hard mazes, the belief takes longer to converge, so the agent replans more often — about 13.6 times on average.</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180 trials total. Honest result: on hard mazes, baseline RRT dominates on success rate and compute time. The MCMC agent finds shorter paths when it succeeds — statistically significant on easy and medium via Mann-Whitney. On hard mazes the high replan count and collision-checking cost overwhelm the path-quality benefit.</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The honest read: there is genuine signal in goal-belief-guided sampling. Shorter paths, converging belief, lambda biasing helping. But the compute cost on hard mazes is catastrophic. The most tractable fix is adaptive lambda and temperature: tighten both as the belief converges so the chain sharpens and the uniform draw rate drops.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Closing. Four reusable pieces even if the aggregate result is mixed: the sampler, the belief module, the evaluation harness, and the dataset. One-line bridge to future work: the collision-rejected MCMC samples encode obstacle geometry and can train a learned C-space surrogate — that's a separate project. Thanks.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Title Text"/>
          <p:cNvSpPr txBox="1"/>
          <p:nvPr>
            <p:ph type="title"/>
          </p:nvPr>
        </p:nvSpPr>
        <p:spPr>
          <a:prstGeom prst="rect">
            <a:avLst/>
          </a:prstGeom>
        </p:spPr>
        <p:txBody>
          <a:bodyPr/>
          <a:lstStyle/>
          <a:p>
            <a:pPr/>
            <a:r>
              <a:t>Title Text</a:t>
            </a:r>
          </a:p>
        </p:txBody>
      </p:sp>
      <p:sp>
        <p:nvSpPr>
          <p:cNvPr id="12" name="Body Level One…"/>
          <p:cNvSpPr txBox="1"/>
          <p:nvPr>
            <p:ph type="body" sz="quarter"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Horizontal">
    <p:spTree>
      <p:nvGrpSpPr>
        <p:cNvPr id="1" name=""/>
        <p:cNvGrpSpPr/>
        <p:nvPr/>
      </p:nvGrpSpPr>
      <p:grpSpPr>
        <a:xfrm>
          <a:off x="0" y="0"/>
          <a:ext cx="0" cy="0"/>
          <a:chOff x="0" y="0"/>
          <a:chExt cx="0" cy="0"/>
        </a:xfrm>
      </p:grpSpPr>
      <p:sp>
        <p:nvSpPr>
          <p:cNvPr id="20" name="View of beach and sea from a grassy sand dune"/>
          <p:cNvSpPr/>
          <p:nvPr>
            <p:ph type="pic" sz="quarter" idx="21"/>
          </p:nvPr>
        </p:nvSpPr>
        <p:spPr>
          <a:xfrm>
            <a:off x="3923617" y="1594894"/>
            <a:ext cx="5158572" cy="3439048"/>
          </a:xfrm>
          <a:prstGeom prst="rect">
            <a:avLst/>
          </a:prstGeom>
        </p:spPr>
        <p:txBody>
          <a:bodyPr lIns="91439" tIns="45719" rIns="91439" bIns="45719">
            <a:noAutofit/>
          </a:bodyPr>
          <a:lstStyle/>
          <a:p>
            <a:pPr/>
          </a:p>
        </p:txBody>
      </p:sp>
      <p:sp>
        <p:nvSpPr>
          <p:cNvPr id="21" name="Title Text"/>
          <p:cNvSpPr txBox="1"/>
          <p:nvPr>
            <p:ph type="title"/>
          </p:nvPr>
        </p:nvSpPr>
        <p:spPr>
          <a:xfrm>
            <a:off x="3215075" y="4412600"/>
            <a:ext cx="6574650" cy="570768"/>
          </a:xfrm>
          <a:prstGeom prst="rect">
            <a:avLst/>
          </a:prstGeom>
        </p:spPr>
        <p:txBody>
          <a:bodyPr/>
          <a:lstStyle/>
          <a:p>
            <a:pPr/>
            <a:r>
              <a:t>Title Text</a:t>
            </a:r>
          </a:p>
        </p:txBody>
      </p:sp>
      <p:sp>
        <p:nvSpPr>
          <p:cNvPr id="22" name="Body Level One…"/>
          <p:cNvSpPr txBox="1"/>
          <p:nvPr>
            <p:ph type="body" sz="quarter" idx="1"/>
          </p:nvPr>
        </p:nvSpPr>
        <p:spPr>
          <a:xfrm>
            <a:off x="3215075" y="4961692"/>
            <a:ext cx="6574650" cy="451557"/>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Center">
    <p:spTree>
      <p:nvGrpSpPr>
        <p:cNvPr id="1" name=""/>
        <p:cNvGrpSpPr/>
        <p:nvPr/>
      </p:nvGrpSpPr>
      <p:grpSpPr>
        <a:xfrm>
          <a:off x="0" y="0"/>
          <a:ext cx="0" cy="0"/>
          <a:chOff x="0" y="0"/>
          <a:chExt cx="0" cy="0"/>
        </a:xfrm>
      </p:grpSpPr>
      <p:sp>
        <p:nvSpPr>
          <p:cNvPr id="30" name="Title Text"/>
          <p:cNvSpPr txBox="1"/>
          <p:nvPr>
            <p:ph type="title"/>
          </p:nvPr>
        </p:nvSpPr>
        <p:spPr>
          <a:xfrm>
            <a:off x="3540195" y="2996522"/>
            <a:ext cx="5924410" cy="1322156"/>
          </a:xfrm>
          <a:prstGeom prst="rect">
            <a:avLst/>
          </a:prstGeom>
        </p:spPr>
        <p:txBody>
          <a:bodyPr anchor="ctr"/>
          <a:lstStyle/>
          <a:p>
            <a:pPr/>
            <a:r>
              <a:t>Title Text</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Vertical">
    <p:spTree>
      <p:nvGrpSpPr>
        <p:cNvPr id="1" name=""/>
        <p:cNvGrpSpPr/>
        <p:nvPr/>
      </p:nvGrpSpPr>
      <p:grpSpPr>
        <a:xfrm>
          <a:off x="0" y="0"/>
          <a:ext cx="0" cy="0"/>
          <a:chOff x="0" y="0"/>
          <a:chExt cx="0" cy="0"/>
        </a:xfrm>
      </p:grpSpPr>
      <p:sp>
        <p:nvSpPr>
          <p:cNvPr id="38" name="Heron flying low over a beach with a short fence in the foreground"/>
          <p:cNvSpPr/>
          <p:nvPr>
            <p:ph type="pic" sz="quarter" idx="21"/>
          </p:nvPr>
        </p:nvSpPr>
        <p:spPr>
          <a:xfrm>
            <a:off x="6683022" y="1977813"/>
            <a:ext cx="3262038" cy="3262038"/>
          </a:xfrm>
          <a:prstGeom prst="rect">
            <a:avLst/>
          </a:prstGeom>
        </p:spPr>
        <p:txBody>
          <a:bodyPr lIns="91439" tIns="45719" rIns="91439" bIns="45719">
            <a:noAutofit/>
          </a:bodyPr>
          <a:lstStyle/>
          <a:p>
            <a:pPr/>
          </a:p>
        </p:txBody>
      </p:sp>
      <p:sp>
        <p:nvSpPr>
          <p:cNvPr id="39" name="Title Text"/>
          <p:cNvSpPr txBox="1"/>
          <p:nvPr>
            <p:ph type="title"/>
          </p:nvPr>
        </p:nvSpPr>
        <p:spPr>
          <a:xfrm>
            <a:off x="3504070" y="1977813"/>
            <a:ext cx="2908019" cy="1578639"/>
          </a:xfrm>
          <a:prstGeom prst="rect">
            <a:avLst/>
          </a:prstGeom>
        </p:spPr>
        <p:txBody>
          <a:bodyPr/>
          <a:lstStyle>
            <a:lvl1pPr>
              <a:defRPr sz="4400"/>
            </a:lvl1pPr>
          </a:lstStyle>
          <a:p>
            <a:pPr/>
            <a:r>
              <a:t>Title Text</a:t>
            </a:r>
          </a:p>
        </p:txBody>
      </p:sp>
      <p:sp>
        <p:nvSpPr>
          <p:cNvPr id="40" name="Body Level One…"/>
          <p:cNvSpPr txBox="1"/>
          <p:nvPr>
            <p:ph type="body" sz="quarter" idx="1"/>
          </p:nvPr>
        </p:nvSpPr>
        <p:spPr>
          <a:xfrm>
            <a:off x="3504070" y="3563676"/>
            <a:ext cx="2908019" cy="1629214"/>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Top">
    <p:spTree>
      <p:nvGrpSpPr>
        <p:cNvPr id="1" name=""/>
        <p:cNvGrpSpPr/>
        <p:nvPr/>
      </p:nvGrpSpPr>
      <p:grpSpPr>
        <a:xfrm>
          <a:off x="0" y="0"/>
          <a:ext cx="0" cy="0"/>
          <a:chOff x="0" y="0"/>
          <a:chExt cx="0" cy="0"/>
        </a:xfrm>
      </p:grpSpPr>
      <p:sp>
        <p:nvSpPr>
          <p:cNvPr id="48" name="Title Text"/>
          <p:cNvSpPr txBox="1"/>
          <p:nvPr>
            <p:ph type="title"/>
          </p:nvPr>
        </p:nvSpPr>
        <p:spPr>
          <a:xfrm>
            <a:off x="3514908" y="1808028"/>
            <a:ext cx="5974984" cy="650241"/>
          </a:xfrm>
          <a:prstGeom prst="rect">
            <a:avLst/>
          </a:prstGeom>
        </p:spPr>
        <p:txBody>
          <a:bodyPr anchor="ctr"/>
          <a:lstStyle/>
          <a:p>
            <a:pPr/>
            <a:r>
              <a:t>Title Text</a:t>
            </a: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56" name="Title Text"/>
          <p:cNvSpPr txBox="1"/>
          <p:nvPr>
            <p:ph type="title"/>
          </p:nvPr>
        </p:nvSpPr>
        <p:spPr>
          <a:xfrm>
            <a:off x="3514908" y="1808028"/>
            <a:ext cx="5974984" cy="650241"/>
          </a:xfrm>
          <a:prstGeom prst="rect">
            <a:avLst/>
          </a:prstGeom>
        </p:spPr>
        <p:txBody>
          <a:bodyPr anchor="ctr"/>
          <a:lstStyle/>
          <a:p>
            <a:pPr/>
            <a:r>
              <a:t>Title Text</a:t>
            </a:r>
          </a:p>
        </p:txBody>
      </p:sp>
      <p:sp>
        <p:nvSpPr>
          <p:cNvPr id="57" name="Body Level One…"/>
          <p:cNvSpPr txBox="1"/>
          <p:nvPr>
            <p:ph type="body" sz="quarter" idx="1"/>
          </p:nvPr>
        </p:nvSpPr>
        <p:spPr>
          <a:xfrm>
            <a:off x="3514908" y="2602766"/>
            <a:ext cx="5974984" cy="2644310"/>
          </a:xfrm>
          <a:prstGeom prst="rect">
            <a:avLst/>
          </a:prstGeom>
        </p:spPr>
        <p:txBody>
          <a:bodyPr anchor="ctr"/>
          <a:lstStyle>
            <a:lvl1pPr marL="317500" indent="-317500" algn="l">
              <a:spcBef>
                <a:spcPts val="3100"/>
              </a:spcBef>
              <a:buSzPct val="125000"/>
              <a:buChar char="•"/>
              <a:defRPr sz="2400"/>
            </a:lvl1pPr>
            <a:lvl2pPr marL="952500" indent="-317500" algn="l">
              <a:spcBef>
                <a:spcPts val="3100"/>
              </a:spcBef>
              <a:buSzPct val="125000"/>
              <a:buChar char="•"/>
              <a:defRPr sz="2400"/>
            </a:lvl2pPr>
            <a:lvl3pPr marL="1587500" indent="-317500" algn="l">
              <a:spcBef>
                <a:spcPts val="3100"/>
              </a:spcBef>
              <a:buSzPct val="125000"/>
              <a:buChar char="•"/>
              <a:defRPr sz="2400"/>
            </a:lvl3pPr>
            <a:lvl4pPr marL="2222500" indent="-317500" algn="l">
              <a:spcBef>
                <a:spcPts val="3100"/>
              </a:spcBef>
              <a:buSzPct val="125000"/>
              <a:buChar char="•"/>
              <a:defRPr sz="2400"/>
            </a:lvl4pPr>
            <a:lvl5pPr marL="2857500" indent="-317500" algn="l">
              <a:spcBef>
                <a:spcPts val="3100"/>
              </a:spcBef>
              <a:buSzPct val="125000"/>
              <a:buChar char="•"/>
              <a:defRPr sz="2400"/>
            </a:lvl5pPr>
          </a:lstStyle>
          <a:p>
            <a:pPr/>
            <a:r>
              <a:t>Body Level One</a:t>
            </a:r>
          </a:p>
          <a:p>
            <a:pPr lvl="1"/>
            <a:r>
              <a:t>Body Level Two</a:t>
            </a:r>
          </a:p>
          <a:p>
            <a:pPr lvl="2"/>
            <a:r>
              <a:t>Body Level Three</a:t>
            </a:r>
          </a:p>
          <a:p>
            <a:pPr lvl="3"/>
            <a:r>
              <a:t>Body Level Four</a:t>
            </a:r>
          </a:p>
          <a:p>
            <a:pPr lvl="4"/>
            <a:r>
              <a:t>Body Level Five</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5" name="Sandy path between two hills leading to the ocean"/>
          <p:cNvSpPr/>
          <p:nvPr>
            <p:ph type="pic" sz="quarter" idx="21"/>
          </p:nvPr>
        </p:nvSpPr>
        <p:spPr>
          <a:xfrm>
            <a:off x="6151992" y="2602766"/>
            <a:ext cx="3966466" cy="2644310"/>
          </a:xfrm>
          <a:prstGeom prst="rect">
            <a:avLst/>
          </a:prstGeom>
        </p:spPr>
        <p:txBody>
          <a:bodyPr lIns="91439" tIns="45719" rIns="91439" bIns="45719">
            <a:noAutofit/>
          </a:bodyPr>
          <a:lstStyle/>
          <a:p>
            <a:pPr/>
          </a:p>
        </p:txBody>
      </p:sp>
      <p:sp>
        <p:nvSpPr>
          <p:cNvPr id="66" name="Title Text"/>
          <p:cNvSpPr txBox="1"/>
          <p:nvPr>
            <p:ph type="title"/>
          </p:nvPr>
        </p:nvSpPr>
        <p:spPr>
          <a:xfrm>
            <a:off x="3514908" y="1808028"/>
            <a:ext cx="5974984" cy="650241"/>
          </a:xfrm>
          <a:prstGeom prst="rect">
            <a:avLst/>
          </a:prstGeom>
        </p:spPr>
        <p:txBody>
          <a:bodyPr anchor="ctr"/>
          <a:lstStyle/>
          <a:p>
            <a:pPr/>
            <a:r>
              <a:t>Title Text</a:t>
            </a:r>
          </a:p>
        </p:txBody>
      </p:sp>
      <p:sp>
        <p:nvSpPr>
          <p:cNvPr id="67" name="Body Level One…"/>
          <p:cNvSpPr txBox="1"/>
          <p:nvPr>
            <p:ph type="body" sz="quarter" idx="1"/>
          </p:nvPr>
        </p:nvSpPr>
        <p:spPr>
          <a:xfrm>
            <a:off x="3514908" y="2602766"/>
            <a:ext cx="2908019" cy="2644310"/>
          </a:xfrm>
          <a:prstGeom prst="rect">
            <a:avLst/>
          </a:prstGeom>
        </p:spPr>
        <p:txBody>
          <a:bodyPr anchor="ctr"/>
          <a:lstStyle>
            <a:lvl1pPr marL="294105" indent="-294105" algn="l">
              <a:spcBef>
                <a:spcPts val="2400"/>
              </a:spcBef>
              <a:buSzPct val="125000"/>
              <a:buChar char="•"/>
              <a:defRPr sz="2000"/>
            </a:lvl1pPr>
            <a:lvl2pPr marL="852905" indent="-294105" algn="l">
              <a:spcBef>
                <a:spcPts val="2400"/>
              </a:spcBef>
              <a:buSzPct val="125000"/>
              <a:buChar char="•"/>
              <a:defRPr sz="2000"/>
            </a:lvl2pPr>
            <a:lvl3pPr marL="1411705" indent="-294105" algn="l">
              <a:spcBef>
                <a:spcPts val="2400"/>
              </a:spcBef>
              <a:buSzPct val="125000"/>
              <a:buChar char="•"/>
              <a:defRPr sz="2000"/>
            </a:lvl3pPr>
            <a:lvl4pPr marL="1970505" indent="-294105" algn="l">
              <a:spcBef>
                <a:spcPts val="2400"/>
              </a:spcBef>
              <a:buSzPct val="125000"/>
              <a:buChar char="•"/>
              <a:defRPr sz="2000"/>
            </a:lvl4pPr>
            <a:lvl5pPr marL="2529305" indent="-294105" algn="l">
              <a:spcBef>
                <a:spcPts val="2400"/>
              </a:spcBef>
              <a:buSzPct val="125000"/>
              <a:buChar char="•"/>
              <a:defRPr sz="2000"/>
            </a:lvl5pPr>
          </a:lstStyle>
          <a:p>
            <a:pPr/>
            <a:r>
              <a:t>Body Level One</a:t>
            </a:r>
          </a:p>
          <a:p>
            <a:pPr lvl="1"/>
            <a:r>
              <a:t>Body Level Two</a:t>
            </a:r>
          </a:p>
          <a:p>
            <a:pPr lvl="2"/>
            <a:r>
              <a:t>Body Level Three</a:t>
            </a:r>
          </a:p>
          <a:p>
            <a:pPr lvl="3"/>
            <a:r>
              <a:t>Body Level Four</a:t>
            </a:r>
          </a:p>
          <a:p>
            <a:pPr lvl="4"/>
            <a:r>
              <a:t>Body Level Five</a:t>
            </a:r>
          </a:p>
        </p:txBody>
      </p:sp>
      <p:sp>
        <p:nvSpPr>
          <p:cNvPr id="6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5" name="Title Text"/>
          <p:cNvSpPr txBox="1"/>
          <p:nvPr>
            <p:ph type="title"/>
          </p:nvPr>
        </p:nvSpPr>
        <p:spPr>
          <a:xfrm>
            <a:off x="3514908" y="1808028"/>
            <a:ext cx="5974984" cy="650241"/>
          </a:xfrm>
          <a:prstGeom prst="rect">
            <a:avLst/>
          </a:prstGeom>
        </p:spPr>
        <p:txBody>
          <a:bodyPr anchor="ctr"/>
          <a:lstStyle/>
          <a:p>
            <a:pPr/>
            <a:r>
              <a:t>Title Text</a:t>
            </a:r>
          </a:p>
        </p:txBody>
      </p:sp>
      <p:sp>
        <p:nvSpPr>
          <p:cNvPr id="76" name="Body Level One…"/>
          <p:cNvSpPr txBox="1"/>
          <p:nvPr>
            <p:ph type="body" sz="quarter" idx="1"/>
          </p:nvPr>
        </p:nvSpPr>
        <p:spPr>
          <a:xfrm>
            <a:off x="3514908" y="2602766"/>
            <a:ext cx="2908019" cy="2644310"/>
          </a:xfrm>
          <a:prstGeom prst="rect">
            <a:avLst/>
          </a:prstGeom>
        </p:spPr>
        <p:txBody>
          <a:bodyPr anchor="ctr"/>
          <a:lstStyle>
            <a:lvl1pPr marL="294105" indent="-294105" algn="l">
              <a:spcBef>
                <a:spcPts val="2400"/>
              </a:spcBef>
              <a:buSzPct val="125000"/>
              <a:buChar char="•"/>
              <a:defRPr sz="2000"/>
            </a:lvl1pPr>
            <a:lvl2pPr marL="852905" indent="-294105" algn="l">
              <a:spcBef>
                <a:spcPts val="2400"/>
              </a:spcBef>
              <a:buSzPct val="125000"/>
              <a:buChar char="•"/>
              <a:defRPr sz="2000"/>
            </a:lvl2pPr>
            <a:lvl3pPr marL="1411705" indent="-294105" algn="l">
              <a:spcBef>
                <a:spcPts val="2400"/>
              </a:spcBef>
              <a:buSzPct val="125000"/>
              <a:buChar char="•"/>
              <a:defRPr sz="2000"/>
            </a:lvl3pPr>
            <a:lvl4pPr marL="1970505" indent="-294105" algn="l">
              <a:spcBef>
                <a:spcPts val="2400"/>
              </a:spcBef>
              <a:buSzPct val="125000"/>
              <a:buChar char="•"/>
              <a:defRPr sz="2000"/>
            </a:lvl4pPr>
            <a:lvl5pPr marL="2529305" indent="-294105" algn="l">
              <a:spcBef>
                <a:spcPts val="2400"/>
              </a:spcBef>
              <a:buSzPct val="125000"/>
              <a:buChar char="•"/>
              <a:defRPr sz="2000"/>
            </a:lvl5pPr>
          </a:lstStyle>
          <a:p>
            <a:pPr/>
            <a:r>
              <a:t>Body Level One</a:t>
            </a:r>
          </a:p>
          <a:p>
            <a:pPr lvl="1"/>
            <a:r>
              <a:t>Body Level Two</a:t>
            </a:r>
          </a:p>
          <a:p>
            <a:pPr lvl="2"/>
            <a:r>
              <a:t>Body Level Three</a:t>
            </a:r>
          </a:p>
          <a:p>
            <a:pPr lvl="3"/>
            <a:r>
              <a:t>Body Level Four</a:t>
            </a:r>
          </a:p>
          <a:p>
            <a:pPr lvl="4"/>
            <a:r>
              <a:t>Body Level Five</a:t>
            </a:r>
          </a:p>
        </p:txBody>
      </p:sp>
      <p:sp>
        <p:nvSpPr>
          <p:cNvPr id="7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4" name="Title Text"/>
          <p:cNvSpPr txBox="1"/>
          <p:nvPr>
            <p:ph type="title"/>
          </p:nvPr>
        </p:nvSpPr>
        <p:spPr>
          <a:xfrm>
            <a:off x="3514908" y="1808028"/>
            <a:ext cx="5974984" cy="650241"/>
          </a:xfrm>
          <a:prstGeom prst="rect">
            <a:avLst/>
          </a:prstGeom>
        </p:spPr>
        <p:txBody>
          <a:bodyPr anchor="ctr"/>
          <a:lstStyle/>
          <a:p>
            <a:pPr/>
            <a:r>
              <a:t>Title Text</a:t>
            </a:r>
          </a:p>
        </p:txBody>
      </p:sp>
      <p:sp>
        <p:nvSpPr>
          <p:cNvPr id="85" name="Body Level One…"/>
          <p:cNvSpPr txBox="1"/>
          <p:nvPr>
            <p:ph type="body" sz="quarter" idx="1"/>
          </p:nvPr>
        </p:nvSpPr>
        <p:spPr>
          <a:xfrm>
            <a:off x="3514908" y="2602766"/>
            <a:ext cx="2908019" cy="2644310"/>
          </a:xfrm>
          <a:prstGeom prst="rect">
            <a:avLst/>
          </a:prstGeom>
        </p:spPr>
        <p:txBody>
          <a:bodyPr anchor="ctr"/>
          <a:lstStyle>
            <a:lvl1pPr marL="294105" indent="-294105" algn="l">
              <a:spcBef>
                <a:spcPts val="2400"/>
              </a:spcBef>
              <a:buSzPct val="125000"/>
              <a:buChar char="•"/>
              <a:defRPr sz="2000"/>
            </a:lvl1pPr>
            <a:lvl2pPr marL="852905" indent="-294105" algn="l">
              <a:spcBef>
                <a:spcPts val="2400"/>
              </a:spcBef>
              <a:buSzPct val="125000"/>
              <a:buChar char="•"/>
              <a:defRPr sz="2000"/>
            </a:lvl2pPr>
            <a:lvl3pPr marL="1411705" indent="-294105" algn="l">
              <a:spcBef>
                <a:spcPts val="2400"/>
              </a:spcBef>
              <a:buSzPct val="125000"/>
              <a:buChar char="•"/>
              <a:defRPr sz="2000"/>
            </a:lvl3pPr>
            <a:lvl4pPr marL="1970505" indent="-294105" algn="l">
              <a:spcBef>
                <a:spcPts val="2400"/>
              </a:spcBef>
              <a:buSzPct val="125000"/>
              <a:buChar char="•"/>
              <a:defRPr sz="2000"/>
            </a:lvl4pPr>
            <a:lvl5pPr marL="2529305" indent="-294105" algn="l">
              <a:spcBef>
                <a:spcPts val="2400"/>
              </a:spcBef>
              <a:buSzPct val="125000"/>
              <a:buChar char="•"/>
              <a:defRPr sz="2000"/>
            </a:lvl5pPr>
          </a:lstStyle>
          <a:p>
            <a:pPr/>
            <a:r>
              <a:t>Body Level One</a:t>
            </a:r>
          </a:p>
          <a:p>
            <a:pPr lvl="1"/>
            <a:r>
              <a:t>Body Level Two</a:t>
            </a:r>
          </a:p>
          <a:p>
            <a:pPr lvl="2"/>
            <a:r>
              <a:t>Body Level Three</a:t>
            </a:r>
          </a:p>
          <a:p>
            <a:pPr lvl="3"/>
            <a:r>
              <a:t>Body Level Four</a:t>
            </a:r>
          </a:p>
          <a:p>
            <a:pPr lvl="4"/>
            <a:r>
              <a:t>Body Level Five</a:t>
            </a:r>
          </a:p>
        </p:txBody>
      </p:sp>
      <p:sp>
        <p:nvSpPr>
          <p:cNvPr id="8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93" name="Body Level One…"/>
          <p:cNvSpPr txBox="1"/>
          <p:nvPr>
            <p:ph type="body" sz="quarter" idx="1"/>
          </p:nvPr>
        </p:nvSpPr>
        <p:spPr>
          <a:xfrm>
            <a:off x="3514908" y="2212622"/>
            <a:ext cx="5974984" cy="2889956"/>
          </a:xfrm>
          <a:prstGeom prst="rect">
            <a:avLst/>
          </a:prstGeom>
        </p:spPr>
        <p:txBody>
          <a:bodyPr anchor="ctr"/>
          <a:lstStyle>
            <a:lvl1pPr marL="317500" indent="-317500" algn="l">
              <a:spcBef>
                <a:spcPts val="3100"/>
              </a:spcBef>
              <a:buSzPct val="125000"/>
              <a:buChar char="•"/>
              <a:defRPr sz="2400"/>
            </a:lvl1pPr>
            <a:lvl2pPr marL="952500" indent="-317500" algn="l">
              <a:spcBef>
                <a:spcPts val="3100"/>
              </a:spcBef>
              <a:buSzPct val="125000"/>
              <a:buChar char="•"/>
              <a:defRPr sz="2400"/>
            </a:lvl2pPr>
            <a:lvl3pPr marL="1587500" indent="-317500" algn="l">
              <a:spcBef>
                <a:spcPts val="3100"/>
              </a:spcBef>
              <a:buSzPct val="125000"/>
              <a:buChar char="•"/>
              <a:defRPr sz="2400"/>
            </a:lvl3pPr>
            <a:lvl4pPr marL="2222500" indent="-317500" algn="l">
              <a:spcBef>
                <a:spcPts val="3100"/>
              </a:spcBef>
              <a:buSzPct val="125000"/>
              <a:buChar char="•"/>
              <a:defRPr sz="2400"/>
            </a:lvl4pPr>
            <a:lvl5pPr marL="2857500" indent="-317500" algn="l">
              <a:spcBef>
                <a:spcPts val="3100"/>
              </a:spcBef>
              <a:buSzPct val="125000"/>
              <a:buChar char="•"/>
              <a:defRPr sz="2400"/>
            </a:lvl5pPr>
          </a:lstStyle>
          <a:p>
            <a:pPr/>
            <a:r>
              <a:t>Body Level One</a:t>
            </a:r>
          </a:p>
          <a:p>
            <a:pPr lvl="1"/>
            <a:r>
              <a:t>Body Level Two</a:t>
            </a:r>
          </a:p>
          <a:p>
            <a:pPr lvl="2"/>
            <a:r>
              <a:t>Body Level Three</a:t>
            </a:r>
          </a:p>
          <a:p>
            <a:pPr lvl="3"/>
            <a:r>
              <a:t>Body Level Four</a:t>
            </a:r>
          </a:p>
          <a:p>
            <a:pPr lvl="4"/>
            <a:r>
              <a:t>Body Level Five</a:t>
            </a:r>
          </a:p>
        </p:txBody>
      </p:sp>
      <p:sp>
        <p:nvSpPr>
          <p:cNvPr id="9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01" name="Sandy path between two hills leading to the ocean"/>
          <p:cNvSpPr/>
          <p:nvPr>
            <p:ph type="pic" sz="quarter" idx="21"/>
          </p:nvPr>
        </p:nvSpPr>
        <p:spPr>
          <a:xfrm>
            <a:off x="7386545" y="3711786"/>
            <a:ext cx="2367959" cy="1578640"/>
          </a:xfrm>
          <a:prstGeom prst="rect">
            <a:avLst/>
          </a:prstGeom>
        </p:spPr>
        <p:txBody>
          <a:bodyPr lIns="91439" tIns="45719" rIns="91439" bIns="45719">
            <a:noAutofit/>
          </a:bodyPr>
          <a:lstStyle/>
          <a:p>
            <a:pPr/>
          </a:p>
        </p:txBody>
      </p:sp>
      <p:sp>
        <p:nvSpPr>
          <p:cNvPr id="102" name="Heron flying low over a beach with a short fence in the foreground"/>
          <p:cNvSpPr/>
          <p:nvPr>
            <p:ph type="pic" sz="quarter" idx="22"/>
          </p:nvPr>
        </p:nvSpPr>
        <p:spPr>
          <a:xfrm>
            <a:off x="7517496" y="1952526"/>
            <a:ext cx="2106057" cy="2106056"/>
          </a:xfrm>
          <a:prstGeom prst="rect">
            <a:avLst/>
          </a:prstGeom>
        </p:spPr>
        <p:txBody>
          <a:bodyPr lIns="91439" tIns="45719" rIns="91439" bIns="45719">
            <a:noAutofit/>
          </a:bodyPr>
          <a:lstStyle/>
          <a:p>
            <a:pPr/>
          </a:p>
        </p:txBody>
      </p:sp>
      <p:sp>
        <p:nvSpPr>
          <p:cNvPr id="103" name="View of beach and sea from a grassy sand dune"/>
          <p:cNvSpPr/>
          <p:nvPr>
            <p:ph type="pic" sz="quarter" idx="23"/>
          </p:nvPr>
        </p:nvSpPr>
        <p:spPr>
          <a:xfrm>
            <a:off x="2752682" y="2028387"/>
            <a:ext cx="4893057" cy="3262039"/>
          </a:xfrm>
          <a:prstGeom prst="rect">
            <a:avLst/>
          </a:prstGeom>
        </p:spPr>
        <p:txBody>
          <a:bodyPr lIns="91439" tIns="45719" rIns="91439" bIns="45719">
            <a:noAutofit/>
          </a:bodyPr>
          <a:lstStyle/>
          <a:p>
            <a:pPr/>
          </a:p>
        </p:txBody>
      </p:sp>
      <p:sp>
        <p:nvSpPr>
          <p:cNvPr id="10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1" name="–Johnny Appleseed"/>
          <p:cNvSpPr txBox="1"/>
          <p:nvPr>
            <p:ph type="body" sz="quarter" idx="21"/>
          </p:nvPr>
        </p:nvSpPr>
        <p:spPr>
          <a:xfrm>
            <a:off x="3713592" y="4253653"/>
            <a:ext cx="5581228" cy="251811"/>
          </a:xfrm>
          <a:prstGeom prst="rect">
            <a:avLst/>
          </a:prstGeom>
        </p:spPr>
        <p:txBody>
          <a:bodyPr>
            <a:spAutoFit/>
          </a:bodyPr>
          <a:lstStyle>
            <a:lvl1pPr>
              <a:defRPr i="1" sz="1600"/>
            </a:lvl1pPr>
          </a:lstStyle>
          <a:p>
            <a:pPr/>
            <a:r>
              <a:t>–Johnny Appleseed</a:t>
            </a:r>
          </a:p>
        </p:txBody>
      </p:sp>
      <p:sp>
        <p:nvSpPr>
          <p:cNvPr id="112" name="“Type a quote here.”"/>
          <p:cNvSpPr txBox="1"/>
          <p:nvPr>
            <p:ph type="body" sz="quarter" idx="22"/>
          </p:nvPr>
        </p:nvSpPr>
        <p:spPr>
          <a:xfrm>
            <a:off x="3713592" y="3358659"/>
            <a:ext cx="5581228" cy="388360"/>
          </a:xfrm>
          <a:prstGeom prst="rect">
            <a:avLst/>
          </a:prstGeom>
        </p:spPr>
        <p:txBody>
          <a:bodyPr anchor="ctr">
            <a:spAutoFit/>
          </a:bodyPr>
          <a:lstStyle>
            <a:lvl1pPr>
              <a:defRPr sz="2400">
                <a:latin typeface="+mn-lt"/>
                <a:ea typeface="+mn-ea"/>
                <a:cs typeface="+mn-cs"/>
                <a:sym typeface="Helvetica Neue Medium"/>
              </a:defRPr>
            </a:lvl1pPr>
          </a:lstStyle>
          <a:p>
            <a:pPr/>
            <a:r>
              <a:t>“Type a quote here.” </a:t>
            </a:r>
          </a:p>
        </p:txBody>
      </p:sp>
      <p:sp>
        <p:nvSpPr>
          <p:cNvPr id="1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20" name="View of beach and sea from a grassy sand dune"/>
          <p:cNvSpPr/>
          <p:nvPr>
            <p:ph type="pic" sz="half" idx="21"/>
          </p:nvPr>
        </p:nvSpPr>
        <p:spPr>
          <a:xfrm>
            <a:off x="3020003" y="1345635"/>
            <a:ext cx="6964794" cy="4643197"/>
          </a:xfrm>
          <a:prstGeom prst="rect">
            <a:avLst/>
          </a:prstGeom>
        </p:spPr>
        <p:txBody>
          <a:bodyPr lIns="91439" tIns="45719" rIns="91439" bIns="45719">
            <a:noAutofit/>
          </a:bodyPr>
          <a:lstStyle/>
          <a:p>
            <a:pPr/>
          </a:p>
        </p:txBody>
      </p:sp>
      <p:sp>
        <p:nvSpPr>
          <p:cNvPr id="12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3540195" y="2360732"/>
            <a:ext cx="5924410" cy="1322156"/>
          </a:xfrm>
          <a:prstGeom prst="rect">
            <a:avLst/>
          </a:prstGeom>
          <a:ln w="3175">
            <a:miter lim="400000"/>
          </a:ln>
          <a:extLst>
            <a:ext uri="{C572A759-6A51-4108-AA02-DFA0A04FC94B}">
              <ma14:wrappingTextBoxFlag xmlns:ma14="http://schemas.microsoft.com/office/mac/drawingml/2011/main" val="1"/>
            </a:ext>
          </a:extLst>
        </p:spPr>
        <p:txBody>
          <a:bodyPr lIns="14449" tIns="14449" rIns="14449" bIns="14449" anchor="b">
            <a:normAutofit fontScale="100000" lnSpcReduction="0"/>
          </a:bodyPr>
          <a:lstStyle/>
          <a:p>
            <a:pPr/>
            <a:r>
              <a:t>Title Text</a:t>
            </a:r>
          </a:p>
        </p:txBody>
      </p:sp>
      <p:sp>
        <p:nvSpPr>
          <p:cNvPr id="3" name="Body Level One…"/>
          <p:cNvSpPr txBox="1"/>
          <p:nvPr>
            <p:ph type="body" idx="1"/>
          </p:nvPr>
        </p:nvSpPr>
        <p:spPr>
          <a:xfrm>
            <a:off x="3540195" y="3719011"/>
            <a:ext cx="5924410" cy="451557"/>
          </a:xfrm>
          <a:prstGeom prst="rect">
            <a:avLst/>
          </a:prstGeom>
          <a:ln w="3175">
            <a:miter lim="400000"/>
          </a:ln>
          <a:extLst>
            <a:ext uri="{C572A759-6A51-4108-AA02-DFA0A04FC94B}">
              <ma14:wrappingTextBoxFlag xmlns:ma14="http://schemas.microsoft.com/office/mac/drawingml/2011/main" val="1"/>
            </a:ext>
          </a:extLst>
        </p:spPr>
        <p:txBody>
          <a:bodyPr lIns="14449" tIns="14449" rIns="14449" bIns="1444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6395059" y="5427697"/>
            <a:ext cx="211069" cy="214980"/>
          </a:xfrm>
          <a:prstGeom prst="rect">
            <a:avLst/>
          </a:prstGeom>
          <a:ln w="3175">
            <a:miter lim="400000"/>
          </a:ln>
        </p:spPr>
        <p:txBody>
          <a:bodyPr wrap="none" lIns="14449" tIns="14449" rIns="14449" bIns="14449">
            <a:spAutoFit/>
          </a:bodyPr>
          <a:lstStyle>
            <a:lvl1pPr algn="ctr">
              <a:spcBef>
                <a:spcPts val="0"/>
              </a:spcBef>
              <a:defRPr sz="1200">
                <a:latin typeface="Helvetica Neue Light"/>
                <a:ea typeface="Helvetica Neue Light"/>
                <a:cs typeface="Helvetica Neue Light"/>
                <a:sym typeface="Helvetica Neue Light"/>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transition xmlns:p14="http://schemas.microsoft.com/office/powerpoint/2010/main" spd="med" advClick="1"/>
  <p:txStyles>
    <p:titleStyle>
      <a:lvl1pPr marL="0" marR="0" indent="0" algn="ctr" defTabSz="440266" rtl="0" latinLnBrk="0">
        <a:lnSpc>
          <a:spcPct val="100000"/>
        </a:lnSpc>
        <a:spcBef>
          <a:spcPts val="0"/>
        </a:spcBef>
        <a:spcAft>
          <a:spcPts val="0"/>
        </a:spcAft>
        <a:buClrTx/>
        <a:buSzTx/>
        <a:buFontTx/>
        <a:buNone/>
        <a:tabLst/>
        <a:defRPr b="0" baseline="0" cap="none" i="0" spc="0" strike="noStrike" sz="5800" u="none">
          <a:solidFill>
            <a:srgbClr val="000000"/>
          </a:solidFill>
          <a:uFillTx/>
          <a:latin typeface="+mn-lt"/>
          <a:ea typeface="+mn-ea"/>
          <a:cs typeface="+mn-cs"/>
          <a:sym typeface="Helvetica Neue Medium"/>
        </a:defRPr>
      </a:lvl1pPr>
      <a:lvl2pPr marL="0" marR="0" indent="457200" algn="ctr" defTabSz="440266" rtl="0" latinLnBrk="0">
        <a:lnSpc>
          <a:spcPct val="100000"/>
        </a:lnSpc>
        <a:spcBef>
          <a:spcPts val="0"/>
        </a:spcBef>
        <a:spcAft>
          <a:spcPts val="0"/>
        </a:spcAft>
        <a:buClrTx/>
        <a:buSzTx/>
        <a:buFontTx/>
        <a:buNone/>
        <a:tabLst/>
        <a:defRPr b="0" baseline="0" cap="none" i="0" spc="0" strike="noStrike" sz="5800" u="none">
          <a:solidFill>
            <a:srgbClr val="000000"/>
          </a:solidFill>
          <a:uFillTx/>
          <a:latin typeface="+mn-lt"/>
          <a:ea typeface="+mn-ea"/>
          <a:cs typeface="+mn-cs"/>
          <a:sym typeface="Helvetica Neue Medium"/>
        </a:defRPr>
      </a:lvl2pPr>
      <a:lvl3pPr marL="0" marR="0" indent="914400" algn="ctr" defTabSz="440266" rtl="0" latinLnBrk="0">
        <a:lnSpc>
          <a:spcPct val="100000"/>
        </a:lnSpc>
        <a:spcBef>
          <a:spcPts val="0"/>
        </a:spcBef>
        <a:spcAft>
          <a:spcPts val="0"/>
        </a:spcAft>
        <a:buClrTx/>
        <a:buSzTx/>
        <a:buFontTx/>
        <a:buNone/>
        <a:tabLst/>
        <a:defRPr b="0" baseline="0" cap="none" i="0" spc="0" strike="noStrike" sz="5800" u="none">
          <a:solidFill>
            <a:srgbClr val="000000"/>
          </a:solidFill>
          <a:uFillTx/>
          <a:latin typeface="+mn-lt"/>
          <a:ea typeface="+mn-ea"/>
          <a:cs typeface="+mn-cs"/>
          <a:sym typeface="Helvetica Neue Medium"/>
        </a:defRPr>
      </a:lvl3pPr>
      <a:lvl4pPr marL="0" marR="0" indent="1371600" algn="ctr" defTabSz="440266" rtl="0" latinLnBrk="0">
        <a:lnSpc>
          <a:spcPct val="100000"/>
        </a:lnSpc>
        <a:spcBef>
          <a:spcPts val="0"/>
        </a:spcBef>
        <a:spcAft>
          <a:spcPts val="0"/>
        </a:spcAft>
        <a:buClrTx/>
        <a:buSzTx/>
        <a:buFontTx/>
        <a:buNone/>
        <a:tabLst/>
        <a:defRPr b="0" baseline="0" cap="none" i="0" spc="0" strike="noStrike" sz="5800" u="none">
          <a:solidFill>
            <a:srgbClr val="000000"/>
          </a:solidFill>
          <a:uFillTx/>
          <a:latin typeface="+mn-lt"/>
          <a:ea typeface="+mn-ea"/>
          <a:cs typeface="+mn-cs"/>
          <a:sym typeface="Helvetica Neue Medium"/>
        </a:defRPr>
      </a:lvl4pPr>
      <a:lvl5pPr marL="0" marR="0" indent="1828800" algn="ctr" defTabSz="440266" rtl="0" latinLnBrk="0">
        <a:lnSpc>
          <a:spcPct val="100000"/>
        </a:lnSpc>
        <a:spcBef>
          <a:spcPts val="0"/>
        </a:spcBef>
        <a:spcAft>
          <a:spcPts val="0"/>
        </a:spcAft>
        <a:buClrTx/>
        <a:buSzTx/>
        <a:buFontTx/>
        <a:buNone/>
        <a:tabLst/>
        <a:defRPr b="0" baseline="0" cap="none" i="0" spc="0" strike="noStrike" sz="5800" u="none">
          <a:solidFill>
            <a:srgbClr val="000000"/>
          </a:solidFill>
          <a:uFillTx/>
          <a:latin typeface="+mn-lt"/>
          <a:ea typeface="+mn-ea"/>
          <a:cs typeface="+mn-cs"/>
          <a:sym typeface="Helvetica Neue Medium"/>
        </a:defRPr>
      </a:lvl5pPr>
      <a:lvl6pPr marL="0" marR="0" indent="2286000" algn="ctr" defTabSz="440266" rtl="0" latinLnBrk="0">
        <a:lnSpc>
          <a:spcPct val="100000"/>
        </a:lnSpc>
        <a:spcBef>
          <a:spcPts val="0"/>
        </a:spcBef>
        <a:spcAft>
          <a:spcPts val="0"/>
        </a:spcAft>
        <a:buClrTx/>
        <a:buSzTx/>
        <a:buFontTx/>
        <a:buNone/>
        <a:tabLst/>
        <a:defRPr b="0" baseline="0" cap="none" i="0" spc="0" strike="noStrike" sz="5800" u="none">
          <a:solidFill>
            <a:srgbClr val="000000"/>
          </a:solidFill>
          <a:uFillTx/>
          <a:latin typeface="+mn-lt"/>
          <a:ea typeface="+mn-ea"/>
          <a:cs typeface="+mn-cs"/>
          <a:sym typeface="Helvetica Neue Medium"/>
        </a:defRPr>
      </a:lvl6pPr>
      <a:lvl7pPr marL="0" marR="0" indent="2743200" algn="ctr" defTabSz="440266" rtl="0" latinLnBrk="0">
        <a:lnSpc>
          <a:spcPct val="100000"/>
        </a:lnSpc>
        <a:spcBef>
          <a:spcPts val="0"/>
        </a:spcBef>
        <a:spcAft>
          <a:spcPts val="0"/>
        </a:spcAft>
        <a:buClrTx/>
        <a:buSzTx/>
        <a:buFontTx/>
        <a:buNone/>
        <a:tabLst/>
        <a:defRPr b="0" baseline="0" cap="none" i="0" spc="0" strike="noStrike" sz="5800" u="none">
          <a:solidFill>
            <a:srgbClr val="000000"/>
          </a:solidFill>
          <a:uFillTx/>
          <a:latin typeface="+mn-lt"/>
          <a:ea typeface="+mn-ea"/>
          <a:cs typeface="+mn-cs"/>
          <a:sym typeface="Helvetica Neue Medium"/>
        </a:defRPr>
      </a:lvl7pPr>
      <a:lvl8pPr marL="0" marR="0" indent="3200400" algn="ctr" defTabSz="440266" rtl="0" latinLnBrk="0">
        <a:lnSpc>
          <a:spcPct val="100000"/>
        </a:lnSpc>
        <a:spcBef>
          <a:spcPts val="0"/>
        </a:spcBef>
        <a:spcAft>
          <a:spcPts val="0"/>
        </a:spcAft>
        <a:buClrTx/>
        <a:buSzTx/>
        <a:buFontTx/>
        <a:buNone/>
        <a:tabLst/>
        <a:defRPr b="0" baseline="0" cap="none" i="0" spc="0" strike="noStrike" sz="5800" u="none">
          <a:solidFill>
            <a:srgbClr val="000000"/>
          </a:solidFill>
          <a:uFillTx/>
          <a:latin typeface="+mn-lt"/>
          <a:ea typeface="+mn-ea"/>
          <a:cs typeface="+mn-cs"/>
          <a:sym typeface="Helvetica Neue Medium"/>
        </a:defRPr>
      </a:lvl8pPr>
      <a:lvl9pPr marL="0" marR="0" indent="3657600" algn="ctr" defTabSz="440266" rtl="0" latinLnBrk="0">
        <a:lnSpc>
          <a:spcPct val="100000"/>
        </a:lnSpc>
        <a:spcBef>
          <a:spcPts val="0"/>
        </a:spcBef>
        <a:spcAft>
          <a:spcPts val="0"/>
        </a:spcAft>
        <a:buClrTx/>
        <a:buSzTx/>
        <a:buFontTx/>
        <a:buNone/>
        <a:tabLst/>
        <a:defRPr b="0" baseline="0" cap="none" i="0" spc="0" strike="noStrike" sz="5800" u="none">
          <a:solidFill>
            <a:srgbClr val="000000"/>
          </a:solidFill>
          <a:uFillTx/>
          <a:latin typeface="+mn-lt"/>
          <a:ea typeface="+mn-ea"/>
          <a:cs typeface="+mn-cs"/>
          <a:sym typeface="Helvetica Neue Medium"/>
        </a:defRPr>
      </a:lvl9pPr>
    </p:titleStyle>
    <p:bodyStyle>
      <a:lvl1pPr marL="0" marR="0" indent="0" algn="ctr" defTabSz="440266"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Helvetica Neue"/>
          <a:ea typeface="Helvetica Neue"/>
          <a:cs typeface="Helvetica Neue"/>
          <a:sym typeface="Helvetica Neue"/>
        </a:defRPr>
      </a:lvl1pPr>
      <a:lvl2pPr marL="0" marR="0" indent="0" algn="ctr" defTabSz="440266"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Helvetica Neue"/>
          <a:ea typeface="Helvetica Neue"/>
          <a:cs typeface="Helvetica Neue"/>
          <a:sym typeface="Helvetica Neue"/>
        </a:defRPr>
      </a:lvl2pPr>
      <a:lvl3pPr marL="0" marR="0" indent="0" algn="ctr" defTabSz="440266"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Helvetica Neue"/>
          <a:ea typeface="Helvetica Neue"/>
          <a:cs typeface="Helvetica Neue"/>
          <a:sym typeface="Helvetica Neue"/>
        </a:defRPr>
      </a:lvl3pPr>
      <a:lvl4pPr marL="0" marR="0" indent="0" algn="ctr" defTabSz="440266"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Helvetica Neue"/>
          <a:ea typeface="Helvetica Neue"/>
          <a:cs typeface="Helvetica Neue"/>
          <a:sym typeface="Helvetica Neue"/>
        </a:defRPr>
      </a:lvl4pPr>
      <a:lvl5pPr marL="0" marR="0" indent="0" algn="ctr" defTabSz="440266"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Helvetica Neue"/>
          <a:ea typeface="Helvetica Neue"/>
          <a:cs typeface="Helvetica Neue"/>
          <a:sym typeface="Helvetica Neue"/>
        </a:defRPr>
      </a:lvl5pPr>
      <a:lvl6pPr marL="0" marR="0" indent="355600" algn="ctr" defTabSz="440266"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Helvetica Neue"/>
          <a:ea typeface="Helvetica Neue"/>
          <a:cs typeface="Helvetica Neue"/>
          <a:sym typeface="Helvetica Neue"/>
        </a:defRPr>
      </a:lvl6pPr>
      <a:lvl7pPr marL="0" marR="0" indent="711200" algn="ctr" defTabSz="440266"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Helvetica Neue"/>
          <a:ea typeface="Helvetica Neue"/>
          <a:cs typeface="Helvetica Neue"/>
          <a:sym typeface="Helvetica Neue"/>
        </a:defRPr>
      </a:lvl7pPr>
      <a:lvl8pPr marL="0" marR="0" indent="1066800" algn="ctr" defTabSz="440266"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Helvetica Neue"/>
          <a:ea typeface="Helvetica Neue"/>
          <a:cs typeface="Helvetica Neue"/>
          <a:sym typeface="Helvetica Neue"/>
        </a:defRPr>
      </a:lvl8pPr>
      <a:lvl9pPr marL="0" marR="0" indent="1422400" algn="ctr" defTabSz="440266"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Helvetica Neue"/>
          <a:ea typeface="Helvetica Neue"/>
          <a:cs typeface="Helvetica Neue"/>
          <a:sym typeface="Helvetica Neue"/>
        </a:defRPr>
      </a:lvl9pPr>
    </p:bodyStyle>
    <p:otherStyle>
      <a:lvl1pPr marL="0" marR="0" indent="0" algn="ctr" defTabSz="440266"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Neue Light"/>
        </a:defRPr>
      </a:lvl1pPr>
      <a:lvl2pPr marL="0" marR="0" indent="457200" algn="ctr" defTabSz="440266"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Neue Light"/>
        </a:defRPr>
      </a:lvl2pPr>
      <a:lvl3pPr marL="0" marR="0" indent="914400" algn="ctr" defTabSz="440266"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Neue Light"/>
        </a:defRPr>
      </a:lvl3pPr>
      <a:lvl4pPr marL="0" marR="0" indent="1371600" algn="ctr" defTabSz="440266"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Neue Light"/>
        </a:defRPr>
      </a:lvl4pPr>
      <a:lvl5pPr marL="0" marR="0" indent="1828800" algn="ctr" defTabSz="440266"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Neue Light"/>
        </a:defRPr>
      </a:lvl5pPr>
      <a:lvl6pPr marL="0" marR="0" indent="2286000" algn="ctr" defTabSz="440266"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Neue Light"/>
        </a:defRPr>
      </a:lvl6pPr>
      <a:lvl7pPr marL="0" marR="0" indent="2743200" algn="ctr" defTabSz="440266"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Neue Light"/>
        </a:defRPr>
      </a:lvl7pPr>
      <a:lvl8pPr marL="0" marR="0" indent="3200400" algn="ctr" defTabSz="440266"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Neue Light"/>
        </a:defRPr>
      </a:lvl8pPr>
      <a:lvl9pPr marL="0" marR="0" indent="3657600" algn="ctr" defTabSz="440266"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051560"/>
            <a:ext cx="548640" cy="73152"/>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80160"/>
            <a:ext cx="9144000" cy="1005840"/>
          </a:xfrm>
          <a:prstGeom prst="rect">
            <a:avLst/>
          </a:prstGeom>
          <a:noFill/>
        </p:spPr>
        <p:txBody>
          <a:bodyPr wrap="square" lIns="0" rIns="0" tIns="0" bIns="0" anchor="t">
            <a:spAutoFit/>
          </a:bodyPr>
          <a:lstStyle/>
          <a:p>
            <a:pPr algn="l"/>
            <a:r>
              <a:rPr sz="5400" b="1" i="0">
                <a:solidFill>
                  <a:srgbClr val="F8FAFC"/>
                </a:solidFill>
                <a:latin typeface="Calibri"/>
              </a:rPr>
              <a:t>Planning Under</a:t>
            </a:r>
          </a:p>
        </p:txBody>
      </p:sp>
      <p:sp>
        <p:nvSpPr>
          <p:cNvPr id="5" name="TextBox 4"/>
          <p:cNvSpPr txBox="1"/>
          <p:nvPr/>
        </p:nvSpPr>
        <p:spPr>
          <a:xfrm>
            <a:off x="640080" y="2194560"/>
            <a:ext cx="9144000" cy="1005840"/>
          </a:xfrm>
          <a:prstGeom prst="rect">
            <a:avLst/>
          </a:prstGeom>
          <a:noFill/>
        </p:spPr>
        <p:txBody>
          <a:bodyPr wrap="square" lIns="0" rIns="0" tIns="0" bIns="0" anchor="t">
            <a:spAutoFit/>
          </a:bodyPr>
          <a:lstStyle/>
          <a:p>
            <a:pPr algn="l"/>
            <a:r>
              <a:rPr sz="5400" b="1" i="0">
                <a:solidFill>
                  <a:srgbClr val="00A896"/>
                </a:solidFill>
                <a:latin typeface="Calibri"/>
              </a:rPr>
              <a:t>Goal Uncertainty</a:t>
            </a:r>
          </a:p>
        </p:txBody>
      </p:sp>
      <p:sp>
        <p:nvSpPr>
          <p:cNvPr id="6" name="TextBox 5"/>
          <p:cNvSpPr txBox="1"/>
          <p:nvPr/>
        </p:nvSpPr>
        <p:spPr>
          <a:xfrm>
            <a:off x="640080" y="3383280"/>
            <a:ext cx="9144000" cy="548640"/>
          </a:xfrm>
          <a:prstGeom prst="rect">
            <a:avLst/>
          </a:prstGeom>
          <a:noFill/>
        </p:spPr>
        <p:txBody>
          <a:bodyPr wrap="square" lIns="0" rIns="0" tIns="0" bIns="0" anchor="t">
            <a:spAutoFit/>
          </a:bodyPr>
          <a:lstStyle/>
          <a:p>
            <a:pPr algn="l"/>
            <a:r>
              <a:rPr sz="2200" b="0" i="0">
                <a:solidFill>
                  <a:srgbClr val="CBD5E1"/>
                </a:solidFill>
                <a:latin typeface="Calibri"/>
              </a:rPr>
              <a:t>An MCMC-Guided RRT System</a:t>
            </a:r>
          </a:p>
        </p:txBody>
      </p:sp>
      <p:sp>
        <p:nvSpPr>
          <p:cNvPr id="7" name="TextBox 6"/>
          <p:cNvSpPr txBox="1"/>
          <p:nvPr/>
        </p:nvSpPr>
        <p:spPr>
          <a:xfrm>
            <a:off x="640080" y="4297680"/>
            <a:ext cx="9144000" cy="457200"/>
          </a:xfrm>
          <a:prstGeom prst="rect">
            <a:avLst/>
          </a:prstGeom>
          <a:noFill/>
        </p:spPr>
        <p:txBody>
          <a:bodyPr wrap="square" lIns="0" rIns="0" tIns="0" bIns="0" anchor="t">
            <a:spAutoFit/>
          </a:bodyPr>
          <a:lstStyle/>
          <a:p>
            <a:pPr algn="l"/>
            <a:r>
              <a:rPr sz="1500" b="0" i="1">
                <a:solidFill>
                  <a:srgbClr val="CBD5E1"/>
                </a:solidFill>
                <a:latin typeface="Calibri"/>
              </a:rPr>
              <a:t>What happens when the planner doesn't know where the goal is?</a:t>
            </a:r>
          </a:p>
        </p:txBody>
      </p:sp>
      <p:sp>
        <p:nvSpPr>
          <p:cNvPr id="8" name="TextBox 7"/>
          <p:cNvSpPr txBox="1"/>
          <p:nvPr/>
        </p:nvSpPr>
        <p:spPr>
          <a:xfrm>
            <a:off x="640080" y="6035040"/>
            <a:ext cx="9144000" cy="365760"/>
          </a:xfrm>
          <a:prstGeom prst="rect">
            <a:avLst/>
          </a:prstGeom>
          <a:noFill/>
        </p:spPr>
        <p:txBody>
          <a:bodyPr wrap="square" lIns="0" rIns="0" tIns="0" bIns="0" anchor="t">
            <a:spAutoFit/>
          </a:bodyPr>
          <a:lstStyle/>
          <a:p>
            <a:pPr algn="l"/>
            <a:r>
              <a:rPr sz="1200" b="0" i="0">
                <a:solidFill>
                  <a:srgbClr val="CBD5E1"/>
                </a:solidFill>
                <a:latin typeface="Calibri"/>
              </a:rPr>
              <a:t>Sam Kelly  ·  UCLA SRP 199  ·  2026</a:t>
            </a:r>
          </a:p>
        </p:txBody>
      </p:sp>
      <p:pic>
        <p:nvPicPr>
          <p:cNvPr id="9" name="Picture 8" descr="maze_visualization.png"/>
          <p:cNvPicPr>
            <a:picLocks noChangeAspect="1"/>
          </p:cNvPicPr>
          <p:nvPr/>
        </p:nvPicPr>
        <p:blipFill>
          <a:blip r:embed="rId2"/>
          <a:stretch>
            <a:fillRect/>
          </a:stretch>
        </p:blipFill>
        <p:spPr>
          <a:xfrm>
            <a:off x="8503920" y="1280160"/>
            <a:ext cx="3200400" cy="32004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02920"/>
            <a:ext cx="91440" cy="566928"/>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411480"/>
            <a:ext cx="10515600" cy="777240"/>
          </a:xfrm>
          <a:prstGeom prst="rect">
            <a:avLst/>
          </a:prstGeom>
          <a:noFill/>
        </p:spPr>
        <p:txBody>
          <a:bodyPr wrap="square" lIns="0" rIns="0" tIns="0" bIns="0" anchor="ctr">
            <a:spAutoFit/>
          </a:bodyPr>
          <a:lstStyle/>
          <a:p>
            <a:pPr algn="l"/>
            <a:r>
              <a:rPr sz="3000" b="1" i="0">
                <a:solidFill>
                  <a:srgbClr val="0F3460"/>
                </a:solidFill>
                <a:latin typeface="Calibri"/>
              </a:rPr>
              <a:t>Why sampling-based motion planning?</a:t>
            </a:r>
          </a:p>
        </p:txBody>
      </p:sp>
      <p:sp>
        <p:nvSpPr>
          <p:cNvPr id="5" name="TextBox 4"/>
          <p:cNvSpPr txBox="1"/>
          <p:nvPr/>
        </p:nvSpPr>
        <p:spPr>
          <a:xfrm>
            <a:off x="10972800" y="502920"/>
            <a:ext cx="914400" cy="457200"/>
          </a:xfrm>
          <a:prstGeom prst="rect">
            <a:avLst/>
          </a:prstGeom>
          <a:noFill/>
        </p:spPr>
        <p:txBody>
          <a:bodyPr wrap="square" lIns="0" rIns="0" tIns="0" bIns="0" anchor="ctr">
            <a:spAutoFit/>
          </a:bodyPr>
          <a:lstStyle/>
          <a:p>
            <a:pPr algn="r"/>
            <a:r>
              <a:rPr sz="1000" b="0" i="0">
                <a:solidFill>
                  <a:srgbClr val="64748B"/>
                </a:solidFill>
                <a:latin typeface="Calibri"/>
              </a:rPr>
              <a:t>2 / 12</a:t>
            </a:r>
          </a:p>
        </p:txBody>
      </p:sp>
      <p:sp>
        <p:nvSpPr>
          <p:cNvPr id="6" name="TextBox 5"/>
          <p:cNvSpPr txBox="1"/>
          <p:nvPr/>
        </p:nvSpPr>
        <p:spPr>
          <a:xfrm>
            <a:off x="640080" y="1463040"/>
            <a:ext cx="6217920" cy="4754880"/>
          </a:xfrm>
          <a:prstGeom prst="rect">
            <a:avLst/>
          </a:prstGeom>
          <a:noFill/>
        </p:spPr>
        <p:txBody>
          <a:bodyPr wrap="square" lIns="0" rIns="0" tIns="0" bIns="0">
            <a:spAutoFit/>
          </a:bodyPr>
          <a:lstStyle/>
          <a:p>
            <a:pPr algn="l">
              <a:spcAft>
                <a:spcPts val="1200"/>
              </a:spcAft>
            </a:pPr>
            <a:r>
              <a:rPr sz="1400" b="1">
                <a:solidFill>
                  <a:srgbClr val="00A896"/>
                </a:solidFill>
                <a:latin typeface="Calibri"/>
              </a:rPr>
              <a:t>▸  </a:t>
            </a:r>
            <a:r>
              <a:rPr sz="1400" b="0" i="0">
                <a:solidFill>
                  <a:srgbClr val="1E293B"/>
                </a:solidFill>
                <a:latin typeface="Calibri"/>
              </a:rPr>
              <a:t>Path planning in C-space X ⊆ R²: find a collision-free path from q_start to q_goal</a:t>
            </a:r>
          </a:p>
          <a:p>
            <a:pPr algn="l">
              <a:spcAft>
                <a:spcPts val="1200"/>
              </a:spcAft>
            </a:pPr>
            <a:r>
              <a:rPr sz="1400" b="1">
                <a:solidFill>
                  <a:srgbClr val="00A896"/>
                </a:solidFill>
                <a:latin typeface="Calibri"/>
              </a:rPr>
              <a:t>▸  </a:t>
            </a:r>
            <a:r>
              <a:rPr sz="1400" b="0" i="0">
                <a:solidFill>
                  <a:srgbClr val="1E293B"/>
                </a:solidFill>
                <a:latin typeface="Calibri"/>
              </a:rPr>
              <a:t>Grid methods fail: O(nᵉ) storage, don't generalize to non-uniform obstacles</a:t>
            </a:r>
          </a:p>
          <a:p>
            <a:pPr algn="l">
              <a:spcAft>
                <a:spcPts val="1200"/>
              </a:spcAft>
            </a:pPr>
            <a:r>
              <a:rPr sz="1400" b="1">
                <a:solidFill>
                  <a:srgbClr val="00A896"/>
                </a:solidFill>
                <a:latin typeface="Calibri"/>
              </a:rPr>
              <a:t>▸  </a:t>
            </a:r>
            <a:r>
              <a:rPr sz="1400" b="0" i="0">
                <a:solidFill>
                  <a:srgbClr val="1E293B"/>
                </a:solidFill>
                <a:latin typeface="Calibri"/>
              </a:rPr>
              <a:t>Optimization methods trap in local minima on non-convex obstacle geometries</a:t>
            </a:r>
          </a:p>
          <a:p>
            <a:pPr algn="l">
              <a:spcAft>
                <a:spcPts val="1200"/>
              </a:spcAft>
            </a:pPr>
            <a:r>
              <a:rPr sz="1400" b="1">
                <a:solidFill>
                  <a:srgbClr val="00A896"/>
                </a:solidFill>
                <a:latin typeface="Calibri"/>
              </a:rPr>
              <a:t>▸  </a:t>
            </a:r>
            <a:r>
              <a:rPr sz="1400" b="1" i="0">
                <a:solidFill>
                  <a:srgbClr val="0F3460"/>
                </a:solidFill>
                <a:latin typeface="Calibri"/>
              </a:rPr>
              <a:t>RRT builds a tree T = (V, E) incrementally: sample → nearest-neighbor (KD-tree) → steer (η=2.0) → collision check → add</a:t>
            </a:r>
          </a:p>
          <a:p>
            <a:pPr algn="l">
              <a:spcAft>
                <a:spcPts val="1200"/>
              </a:spcAft>
            </a:pPr>
            <a:r>
              <a:rPr sz="1400" b="1">
                <a:solidFill>
                  <a:srgbClr val="00A896"/>
                </a:solidFill>
                <a:latin typeface="Calibri"/>
              </a:rPr>
              <a:t>▸  </a:t>
            </a:r>
            <a:r>
              <a:rPr sz="1400" b="0" i="1">
                <a:solidFill>
                  <a:srgbClr val="00A896"/>
                </a:solidFill>
                <a:latin typeface="Calibri"/>
              </a:rPr>
              <a:t>Probabilistically complete and resolution-complete in the continuous limit</a:t>
            </a:r>
          </a:p>
          <a:p>
            <a:pPr algn="l">
              <a:spcAft>
                <a:spcPts val="1200"/>
              </a:spcAft>
            </a:pPr>
            <a:r>
              <a:rPr sz="1400" b="1">
                <a:solidFill>
                  <a:srgbClr val="E76F51"/>
                </a:solidFill>
                <a:latin typeface="Calibri"/>
              </a:rPr>
              <a:t>▸  </a:t>
            </a:r>
            <a:r>
              <a:rPr sz="1400" b="0" i="1">
                <a:solidFill>
                  <a:srgbClr val="E76F51"/>
                </a:solidFill>
                <a:latin typeface="Calibri"/>
              </a:rPr>
              <a:t>Bottleneck: vanilla RRT samples uniformly from X_free, ignoring where the goal is</a:t>
            </a:r>
          </a:p>
        </p:txBody>
      </p:sp>
      <p:pic>
        <p:nvPicPr>
          <p:cNvPr id="7" name="Picture 6" descr="maze_visualization_standalone.png"/>
          <p:cNvPicPr>
            <a:picLocks noChangeAspect="1"/>
          </p:cNvPicPr>
          <p:nvPr/>
        </p:nvPicPr>
        <p:blipFill>
          <a:blip r:embed="rId2"/>
          <a:stretch>
            <a:fillRect/>
          </a:stretch>
        </p:blipFill>
        <p:spPr>
          <a:xfrm>
            <a:off x="7223760" y="1554480"/>
            <a:ext cx="4389120" cy="4389120"/>
          </a:xfrm>
          <a:prstGeom prst="rect">
            <a:avLst/>
          </a:prstGeom>
        </p:spPr>
      </p:pic>
      <p:sp>
        <p:nvSpPr>
          <p:cNvPr id="8" name="TextBox 7"/>
          <p:cNvSpPr txBox="1"/>
          <p:nvPr/>
        </p:nvSpPr>
        <p:spPr>
          <a:xfrm>
            <a:off x="7223760" y="5961888"/>
            <a:ext cx="4389120" cy="274320"/>
          </a:xfrm>
          <a:prstGeom prst="rect">
            <a:avLst/>
          </a:prstGeom>
          <a:noFill/>
        </p:spPr>
        <p:txBody>
          <a:bodyPr wrap="square" lIns="0" rIns="0" tIns="0" bIns="0" anchor="t">
            <a:spAutoFit/>
          </a:bodyPr>
          <a:lstStyle/>
          <a:p>
            <a:pPr algn="ctr"/>
            <a:r>
              <a:rPr sz="1000" b="0" i="1">
                <a:solidFill>
                  <a:srgbClr val="64748B"/>
                </a:solidFill>
                <a:latin typeface="Calibri"/>
              </a:rPr>
              <a:t>20×20 grid maze, 365 wall segments (seed=42)</a:t>
            </a:r>
          </a:p>
        </p:txBody>
      </p:sp>
      <p:sp>
        <p:nvSpPr>
          <p:cNvPr id="9" name="TextBox 8"/>
          <p:cNvSpPr txBox="1"/>
          <p:nvPr/>
        </p:nvSpPr>
        <p:spPr>
          <a:xfrm>
            <a:off x="10515600" y="6446520"/>
            <a:ext cx="1463040" cy="274320"/>
          </a:xfrm>
          <a:prstGeom prst="rect">
            <a:avLst/>
          </a:prstGeom>
          <a:noFill/>
        </p:spPr>
        <p:txBody>
          <a:bodyPr wrap="square" lIns="0" rIns="0" tIns="0" bIns="0" anchor="t">
            <a:spAutoFit/>
          </a:bodyPr>
          <a:lstStyle/>
          <a:p>
            <a:pPr algn="r"/>
            <a:r>
              <a:rPr sz="900" b="0" i="1">
                <a:solidFill>
                  <a:srgbClr val="64748B"/>
                </a:solidFill>
                <a:latin typeface="Calibri"/>
              </a:rPr>
              <a:t>0:30 – 1:15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02920"/>
            <a:ext cx="91440" cy="566928"/>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411480"/>
            <a:ext cx="10515600" cy="777240"/>
          </a:xfrm>
          <a:prstGeom prst="rect">
            <a:avLst/>
          </a:prstGeom>
          <a:noFill/>
        </p:spPr>
        <p:txBody>
          <a:bodyPr wrap="square" lIns="0" rIns="0" tIns="0" bIns="0" anchor="ctr">
            <a:spAutoFit/>
          </a:bodyPr>
          <a:lstStyle/>
          <a:p>
            <a:pPr algn="l"/>
            <a:r>
              <a:rPr sz="3000" b="1" i="0">
                <a:solidFill>
                  <a:srgbClr val="0F3460"/>
                </a:solidFill>
                <a:latin typeface="Calibri"/>
              </a:rPr>
              <a:t>Prior work biases toward a known goal</a:t>
            </a:r>
          </a:p>
        </p:txBody>
      </p:sp>
      <p:sp>
        <p:nvSpPr>
          <p:cNvPr id="5" name="TextBox 4"/>
          <p:cNvSpPr txBox="1"/>
          <p:nvPr/>
        </p:nvSpPr>
        <p:spPr>
          <a:xfrm>
            <a:off x="10972800" y="502920"/>
            <a:ext cx="914400" cy="457200"/>
          </a:xfrm>
          <a:prstGeom prst="rect">
            <a:avLst/>
          </a:prstGeom>
          <a:noFill/>
        </p:spPr>
        <p:txBody>
          <a:bodyPr wrap="square" lIns="0" rIns="0" tIns="0" bIns="0" anchor="ctr">
            <a:spAutoFit/>
          </a:bodyPr>
          <a:lstStyle/>
          <a:p>
            <a:pPr algn="r"/>
            <a:r>
              <a:rPr sz="1000" b="0" i="0">
                <a:solidFill>
                  <a:srgbClr val="64748B"/>
                </a:solidFill>
                <a:latin typeface="Calibri"/>
              </a:rPr>
              <a:t>3 / 12</a:t>
            </a:r>
          </a:p>
        </p:txBody>
      </p:sp>
      <p:sp>
        <p:nvSpPr>
          <p:cNvPr id="6" name="Rounded Rectangle 5"/>
          <p:cNvSpPr/>
          <p:nvPr/>
        </p:nvSpPr>
        <p:spPr>
          <a:xfrm>
            <a:off x="640080" y="1554480"/>
            <a:ext cx="5303520" cy="4389120"/>
          </a:xfrm>
          <a:prstGeom prst="round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55648"/>
            <a:ext cx="4846320" cy="411480"/>
          </a:xfrm>
          <a:prstGeom prst="rect">
            <a:avLst/>
          </a:prstGeom>
          <a:noFill/>
        </p:spPr>
        <p:txBody>
          <a:bodyPr wrap="square" lIns="0" rIns="0" tIns="0" bIns="0" anchor="t">
            <a:spAutoFit/>
          </a:bodyPr>
          <a:lstStyle/>
          <a:p>
            <a:pPr algn="l"/>
            <a:r>
              <a:rPr sz="1700" b="1" i="0">
                <a:solidFill>
                  <a:srgbClr val="0F3460"/>
                </a:solidFill>
                <a:latin typeface="Calibri"/>
              </a:rPr>
              <a:t>Prior work</a:t>
            </a:r>
          </a:p>
        </p:txBody>
      </p:sp>
      <p:sp>
        <p:nvSpPr>
          <p:cNvPr id="8" name="TextBox 7"/>
          <p:cNvSpPr txBox="1"/>
          <p:nvPr/>
        </p:nvSpPr>
        <p:spPr>
          <a:xfrm>
            <a:off x="868680" y="2286000"/>
            <a:ext cx="4846320" cy="3474720"/>
          </a:xfrm>
          <a:prstGeom prst="rect">
            <a:avLst/>
          </a:prstGeom>
          <a:noFill/>
        </p:spPr>
        <p:txBody>
          <a:bodyPr wrap="square" lIns="0" rIns="0" tIns="0" bIns="0">
            <a:spAutoFit/>
          </a:bodyPr>
          <a:lstStyle/>
          <a:p>
            <a:pPr algn="l">
              <a:spcAft>
                <a:spcPts val="1100"/>
              </a:spcAft>
            </a:pPr>
            <a:r>
              <a:rPr sz="1200" b="1">
                <a:solidFill>
                  <a:srgbClr val="00A896"/>
                </a:solidFill>
                <a:latin typeface="Calibri"/>
              </a:rPr>
              <a:t>▸  </a:t>
            </a:r>
            <a:r>
              <a:rPr sz="1200" b="0" i="0">
                <a:solidFill>
                  <a:srgbClr val="1E293B"/>
                </a:solidFill>
                <a:latin typeface="Calibri"/>
              </a:rPr>
              <a:t>Goal-biased RRT: sample toward fixed q_goal with probability p (typically 5–10%)</a:t>
            </a:r>
          </a:p>
          <a:p>
            <a:pPr algn="l">
              <a:spcAft>
                <a:spcPts val="1100"/>
              </a:spcAft>
            </a:pPr>
            <a:r>
              <a:rPr sz="1200" b="1">
                <a:solidFill>
                  <a:srgbClr val="00A896"/>
                </a:solidFill>
                <a:latin typeface="Calibri"/>
              </a:rPr>
              <a:t>▸  </a:t>
            </a:r>
            <a:r>
              <a:rPr sz="1200" b="0" i="0">
                <a:solidFill>
                  <a:srgbClr val="1E293B"/>
                </a:solidFill>
                <a:latin typeface="Calibri"/>
              </a:rPr>
              <a:t>RRT-Connect: simultaneously grow trees from q_start and q_goal, meet in middle</a:t>
            </a:r>
          </a:p>
          <a:p>
            <a:pPr algn="l">
              <a:spcAft>
                <a:spcPts val="1100"/>
              </a:spcAft>
            </a:pPr>
            <a:r>
              <a:rPr sz="1200" b="1">
                <a:solidFill>
                  <a:srgbClr val="00A896"/>
                </a:solidFill>
                <a:latin typeface="Calibri"/>
              </a:rPr>
              <a:t>▸  </a:t>
            </a:r>
            <a:r>
              <a:rPr sz="1200" b="0" i="0">
                <a:solidFill>
                  <a:srgbClr val="1E293B"/>
                </a:solidFill>
                <a:latin typeface="Calibri"/>
              </a:rPr>
              <a:t>Informed RRT*: restrict sampling to a prolate hyperspheroid defined by current best path cost</a:t>
            </a:r>
          </a:p>
          <a:p>
            <a:pPr algn="l">
              <a:spcAft>
                <a:spcPts val="1100"/>
              </a:spcAft>
            </a:pPr>
            <a:r>
              <a:rPr sz="1200" b="1">
                <a:solidFill>
                  <a:srgbClr val="00A896"/>
                </a:solidFill>
                <a:latin typeface="Calibri"/>
              </a:rPr>
              <a:t>▸  </a:t>
            </a:r>
            <a:r>
              <a:rPr sz="1200" b="0" i="1">
                <a:solidFill>
                  <a:srgbClr val="64748B"/>
                </a:solidFill>
                <a:latin typeface="Calibri"/>
              </a:rPr>
              <a:t>All assume q_goal ∈ X_free is a known, fixed point</a:t>
            </a:r>
          </a:p>
        </p:txBody>
      </p:sp>
      <p:sp>
        <p:nvSpPr>
          <p:cNvPr id="9" name="Rounded Rectangle 8"/>
          <p:cNvSpPr/>
          <p:nvPr/>
        </p:nvSpPr>
        <p:spPr>
          <a:xfrm>
            <a:off x="6263640" y="1554480"/>
            <a:ext cx="5303520" cy="4389120"/>
          </a:xfrm>
          <a:prstGeom prst="roundRect">
            <a:avLst/>
          </a:prstGeom>
          <a:solidFill>
            <a:srgbClr val="0F3460"/>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755648"/>
            <a:ext cx="4846320" cy="411480"/>
          </a:xfrm>
          <a:prstGeom prst="rect">
            <a:avLst/>
          </a:prstGeom>
          <a:noFill/>
        </p:spPr>
        <p:txBody>
          <a:bodyPr wrap="square" lIns="0" rIns="0" tIns="0" bIns="0" anchor="t">
            <a:spAutoFit/>
          </a:bodyPr>
          <a:lstStyle/>
          <a:p>
            <a:pPr algn="l"/>
            <a:r>
              <a:rPr sz="1700" b="1" i="0">
                <a:solidFill>
                  <a:srgbClr val="00A896"/>
                </a:solidFill>
                <a:latin typeface="Calibri"/>
              </a:rPr>
              <a:t>Our angle</a:t>
            </a:r>
          </a:p>
        </p:txBody>
      </p:sp>
      <p:sp>
        <p:nvSpPr>
          <p:cNvPr id="11" name="TextBox 10"/>
          <p:cNvSpPr txBox="1"/>
          <p:nvPr/>
        </p:nvSpPr>
        <p:spPr>
          <a:xfrm>
            <a:off x="6492240" y="2286000"/>
            <a:ext cx="4846320" cy="3474720"/>
          </a:xfrm>
          <a:prstGeom prst="rect">
            <a:avLst/>
          </a:prstGeom>
          <a:noFill/>
        </p:spPr>
        <p:txBody>
          <a:bodyPr wrap="square" lIns="0" rIns="0" tIns="0" bIns="0">
            <a:spAutoFit/>
          </a:bodyPr>
          <a:lstStyle/>
          <a:p>
            <a:pPr algn="l">
              <a:spcAft>
                <a:spcPts val="1100"/>
              </a:spcAft>
            </a:pPr>
            <a:r>
              <a:rPr sz="1200" b="1">
                <a:solidFill>
                  <a:srgbClr val="00A896"/>
                </a:solidFill>
                <a:latin typeface="Calibri"/>
              </a:rPr>
              <a:t>▸  </a:t>
            </a:r>
            <a:r>
              <a:rPr sz="1200" b="0" i="0">
                <a:solidFill>
                  <a:srgbClr val="F8FAFC"/>
                </a:solidFill>
                <a:latin typeface="Calibri"/>
              </a:rPr>
              <a:t>Goal as a Gaussian belief: b(q_goal) = N(μ, Σ), initialized with wide covariance</a:t>
            </a:r>
          </a:p>
          <a:p>
            <a:pPr algn="l">
              <a:spcAft>
                <a:spcPts val="1100"/>
              </a:spcAft>
            </a:pPr>
            <a:r>
              <a:rPr sz="1200" b="1">
                <a:solidFill>
                  <a:srgbClr val="00A896"/>
                </a:solidFill>
                <a:latin typeface="Calibri"/>
              </a:rPr>
              <a:t>▸  </a:t>
            </a:r>
            <a:r>
              <a:rPr sz="1200" b="0" i="0">
                <a:solidFill>
                  <a:srgbClr val="F8FAFC"/>
                </a:solidFill>
                <a:latin typeface="Calibri"/>
              </a:rPr>
              <a:t>Belief updated sequentially via noisy range sensor: z_t = d(q_t, q_goal) + ε, ε ~ N(0, σ²(d))</a:t>
            </a:r>
          </a:p>
          <a:p>
            <a:pPr algn="l">
              <a:spcAft>
                <a:spcPts val="1100"/>
              </a:spcAft>
            </a:pPr>
            <a:r>
              <a:rPr sz="1200" b="1">
                <a:solidFill>
                  <a:srgbClr val="00A896"/>
                </a:solidFill>
                <a:latin typeface="Calibri"/>
              </a:rPr>
              <a:t>▸  </a:t>
            </a:r>
            <a:r>
              <a:rPr sz="1200" b="0" i="0">
                <a:solidFill>
                  <a:srgbClr val="F8FAFC"/>
                </a:solidFill>
                <a:latin typeface="Calibri"/>
              </a:rPr>
              <a:t>Sampler biases toward high-probability goal regions while also favoring informative viewpoints</a:t>
            </a:r>
          </a:p>
          <a:p>
            <a:pPr algn="l">
              <a:spcAft>
                <a:spcPts val="1100"/>
              </a:spcAft>
            </a:pPr>
            <a:r>
              <a:rPr sz="1200" b="1">
                <a:solidFill>
                  <a:srgbClr val="00A896"/>
                </a:solidFill>
                <a:latin typeface="Calibri"/>
              </a:rPr>
              <a:t>▸  </a:t>
            </a:r>
            <a:r>
              <a:rPr sz="1200" b="1" i="0">
                <a:solidFill>
                  <a:srgbClr val="00A896"/>
                </a:solidFill>
                <a:latin typeface="Calibri"/>
              </a:rPr>
              <a:t>Plan, sense, update N(μ, Σ), replan — interleaved throughout execution</a:t>
            </a:r>
          </a:p>
        </p:txBody>
      </p:sp>
      <p:sp>
        <p:nvSpPr>
          <p:cNvPr id="12" name="TextBox 11"/>
          <p:cNvSpPr txBox="1"/>
          <p:nvPr/>
        </p:nvSpPr>
        <p:spPr>
          <a:xfrm>
            <a:off x="10515600" y="6446520"/>
            <a:ext cx="1463040" cy="274320"/>
          </a:xfrm>
          <a:prstGeom prst="rect">
            <a:avLst/>
          </a:prstGeom>
          <a:noFill/>
        </p:spPr>
        <p:txBody>
          <a:bodyPr wrap="square" lIns="0" rIns="0" tIns="0" bIns="0" anchor="t">
            <a:spAutoFit/>
          </a:bodyPr>
          <a:lstStyle/>
          <a:p>
            <a:pPr algn="r"/>
            <a:r>
              <a:rPr sz="900" b="0" i="1">
                <a:solidFill>
                  <a:srgbClr val="64748B"/>
                </a:solidFill>
                <a:latin typeface="Calibri"/>
              </a:rPr>
              <a:t>1:15 – 1:55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02920"/>
            <a:ext cx="91440" cy="566928"/>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411480"/>
            <a:ext cx="10515600" cy="777240"/>
          </a:xfrm>
          <a:prstGeom prst="rect">
            <a:avLst/>
          </a:prstGeom>
          <a:noFill/>
        </p:spPr>
        <p:txBody>
          <a:bodyPr wrap="square" lIns="0" rIns="0" tIns="0" bIns="0" anchor="ctr">
            <a:spAutoFit/>
          </a:bodyPr>
          <a:lstStyle/>
          <a:p>
            <a:pPr algn="l"/>
            <a:r>
              <a:rPr sz="3000" b="1" i="0">
                <a:solidFill>
                  <a:srgbClr val="0F3460"/>
                </a:solidFill>
                <a:latin typeface="Calibri"/>
              </a:rPr>
              <a:t>Environments: Procedurally Generated Mazes</a:t>
            </a:r>
          </a:p>
        </p:txBody>
      </p:sp>
      <p:sp>
        <p:nvSpPr>
          <p:cNvPr id="5" name="TextBox 4"/>
          <p:cNvSpPr txBox="1"/>
          <p:nvPr/>
        </p:nvSpPr>
        <p:spPr>
          <a:xfrm>
            <a:off x="10972800" y="502920"/>
            <a:ext cx="914400" cy="457200"/>
          </a:xfrm>
          <a:prstGeom prst="rect">
            <a:avLst/>
          </a:prstGeom>
          <a:noFill/>
        </p:spPr>
        <p:txBody>
          <a:bodyPr wrap="square" lIns="0" rIns="0" tIns="0" bIns="0" anchor="ctr">
            <a:spAutoFit/>
          </a:bodyPr>
          <a:lstStyle/>
          <a:p>
            <a:pPr algn="r"/>
            <a:r>
              <a:rPr sz="1000" b="0" i="0">
                <a:solidFill>
                  <a:srgbClr val="64748B"/>
                </a:solidFill>
                <a:latin typeface="Calibri"/>
              </a:rPr>
              <a:t>4 / 12</a:t>
            </a:r>
          </a:p>
        </p:txBody>
      </p:sp>
      <p:sp>
        <p:nvSpPr>
          <p:cNvPr id="6" name="TextBox 5"/>
          <p:cNvSpPr txBox="1"/>
          <p:nvPr/>
        </p:nvSpPr>
        <p:spPr>
          <a:xfrm>
            <a:off x="640080" y="1389888"/>
            <a:ext cx="10908792" cy="365760"/>
          </a:xfrm>
          <a:prstGeom prst="rect">
            <a:avLst/>
          </a:prstGeom>
          <a:noFill/>
        </p:spPr>
        <p:txBody>
          <a:bodyPr wrap="square" lIns="0" rIns="0" tIns="0" bIns="0" anchor="t">
            <a:spAutoFit/>
          </a:bodyPr>
          <a:lstStyle/>
          <a:p>
            <a:pPr algn="l"/>
            <a:r>
              <a:rPr sz="1300" b="0" i="1">
                <a:solidFill>
                  <a:srgbClr val="64748B"/>
                </a:solidFill>
                <a:latin typeface="Calibri"/>
              </a:rPr>
              <a:t>2D continuous C-space X = [0, 100]² ⊂ R².  Obstacles are Shapely polygons — RRT samples from continuous space, not discrete grid cells.</a:t>
            </a:r>
          </a:p>
        </p:txBody>
      </p:sp>
      <p:sp>
        <p:nvSpPr>
          <p:cNvPr id="7" name="Rounded Rectangle 6"/>
          <p:cNvSpPr/>
          <p:nvPr/>
        </p:nvSpPr>
        <p:spPr>
          <a:xfrm>
            <a:off x="2602839" y="1828800"/>
            <a:ext cx="2194560" cy="960120"/>
          </a:xfrm>
          <a:prstGeom prst="round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2839" y="1828800"/>
            <a:ext cx="2194560" cy="73152"/>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02839" y="1956816"/>
            <a:ext cx="2194560" cy="365760"/>
          </a:xfrm>
          <a:prstGeom prst="rect">
            <a:avLst/>
          </a:prstGeom>
          <a:noFill/>
        </p:spPr>
        <p:txBody>
          <a:bodyPr wrap="square" lIns="0" rIns="0" tIns="0" bIns="0" anchor="t">
            <a:spAutoFit/>
          </a:bodyPr>
          <a:lstStyle/>
          <a:p>
            <a:pPr algn="ctr"/>
            <a:r>
              <a:rPr sz="1600" b="1" i="0">
                <a:solidFill>
                  <a:srgbClr val="00A896"/>
                </a:solidFill>
                <a:latin typeface="Calibri"/>
              </a:rPr>
              <a:t>Easy</a:t>
            </a:r>
          </a:p>
        </p:txBody>
      </p:sp>
      <p:sp>
        <p:nvSpPr>
          <p:cNvPr id="10" name="TextBox 9"/>
          <p:cNvSpPr txBox="1"/>
          <p:nvPr/>
        </p:nvSpPr>
        <p:spPr>
          <a:xfrm>
            <a:off x="2602839" y="2350007"/>
            <a:ext cx="2194560" cy="320040"/>
          </a:xfrm>
          <a:prstGeom prst="rect">
            <a:avLst/>
          </a:prstGeom>
          <a:noFill/>
        </p:spPr>
        <p:txBody>
          <a:bodyPr wrap="square" lIns="0" rIns="0" tIns="0" bIns="0" anchor="t">
            <a:spAutoFit/>
          </a:bodyPr>
          <a:lstStyle/>
          <a:p>
            <a:pPr algn="ctr"/>
            <a:r>
              <a:rPr sz="1100" b="0" i="0">
                <a:solidFill>
                  <a:srgbClr val="64748B"/>
                </a:solidFill>
                <a:latin typeface="Calibri"/>
              </a:rPr>
              <a:t>10×10 grid  ·  ~85 walls</a:t>
            </a:r>
          </a:p>
        </p:txBody>
      </p:sp>
      <p:sp>
        <p:nvSpPr>
          <p:cNvPr id="11" name="Rounded Rectangle 10"/>
          <p:cNvSpPr/>
          <p:nvPr/>
        </p:nvSpPr>
        <p:spPr>
          <a:xfrm>
            <a:off x="4998567" y="1828800"/>
            <a:ext cx="2194560" cy="960120"/>
          </a:xfrm>
          <a:prstGeom prst="round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998567" y="1828800"/>
            <a:ext cx="2194560" cy="73152"/>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98567" y="1956816"/>
            <a:ext cx="2194560" cy="365760"/>
          </a:xfrm>
          <a:prstGeom prst="rect">
            <a:avLst/>
          </a:prstGeom>
          <a:noFill/>
        </p:spPr>
        <p:txBody>
          <a:bodyPr wrap="square" lIns="0" rIns="0" tIns="0" bIns="0" anchor="t">
            <a:spAutoFit/>
          </a:bodyPr>
          <a:lstStyle/>
          <a:p>
            <a:pPr algn="ctr"/>
            <a:r>
              <a:rPr sz="1600" b="1" i="0">
                <a:solidFill>
                  <a:srgbClr val="0F3460"/>
                </a:solidFill>
                <a:latin typeface="Calibri"/>
              </a:rPr>
              <a:t>Medium</a:t>
            </a:r>
          </a:p>
        </p:txBody>
      </p:sp>
      <p:sp>
        <p:nvSpPr>
          <p:cNvPr id="14" name="TextBox 13"/>
          <p:cNvSpPr txBox="1"/>
          <p:nvPr/>
        </p:nvSpPr>
        <p:spPr>
          <a:xfrm>
            <a:off x="4998567" y="2350007"/>
            <a:ext cx="2194560" cy="320040"/>
          </a:xfrm>
          <a:prstGeom prst="rect">
            <a:avLst/>
          </a:prstGeom>
          <a:noFill/>
        </p:spPr>
        <p:txBody>
          <a:bodyPr wrap="square" lIns="0" rIns="0" tIns="0" bIns="0" anchor="t">
            <a:spAutoFit/>
          </a:bodyPr>
          <a:lstStyle/>
          <a:p>
            <a:pPr algn="ctr"/>
            <a:r>
              <a:rPr sz="1100" b="0" i="0">
                <a:solidFill>
                  <a:srgbClr val="64748B"/>
                </a:solidFill>
                <a:latin typeface="Calibri"/>
              </a:rPr>
              <a:t>20×20 grid  ·  ~365 walls</a:t>
            </a:r>
          </a:p>
        </p:txBody>
      </p:sp>
      <p:sp>
        <p:nvSpPr>
          <p:cNvPr id="15" name="Rounded Rectangle 14"/>
          <p:cNvSpPr/>
          <p:nvPr/>
        </p:nvSpPr>
        <p:spPr>
          <a:xfrm>
            <a:off x="7394295" y="1828800"/>
            <a:ext cx="2194560" cy="960120"/>
          </a:xfrm>
          <a:prstGeom prst="round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94295" y="1828800"/>
            <a:ext cx="2194560" cy="73152"/>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94295" y="1956816"/>
            <a:ext cx="2194560" cy="365760"/>
          </a:xfrm>
          <a:prstGeom prst="rect">
            <a:avLst/>
          </a:prstGeom>
          <a:noFill/>
        </p:spPr>
        <p:txBody>
          <a:bodyPr wrap="square" lIns="0" rIns="0" tIns="0" bIns="0" anchor="t">
            <a:spAutoFit/>
          </a:bodyPr>
          <a:lstStyle/>
          <a:p>
            <a:pPr algn="ctr"/>
            <a:r>
              <a:rPr sz="1600" b="1" i="0">
                <a:solidFill>
                  <a:srgbClr val="E76F51"/>
                </a:solidFill>
                <a:latin typeface="Calibri"/>
              </a:rPr>
              <a:t>Hard</a:t>
            </a:r>
          </a:p>
        </p:txBody>
      </p:sp>
      <p:sp>
        <p:nvSpPr>
          <p:cNvPr id="18" name="TextBox 17"/>
          <p:cNvSpPr txBox="1"/>
          <p:nvPr/>
        </p:nvSpPr>
        <p:spPr>
          <a:xfrm>
            <a:off x="7394295" y="2350007"/>
            <a:ext cx="2194560" cy="320040"/>
          </a:xfrm>
          <a:prstGeom prst="rect">
            <a:avLst/>
          </a:prstGeom>
          <a:noFill/>
        </p:spPr>
        <p:txBody>
          <a:bodyPr wrap="square" lIns="0" rIns="0" tIns="0" bIns="0" anchor="t">
            <a:spAutoFit/>
          </a:bodyPr>
          <a:lstStyle/>
          <a:p>
            <a:pPr algn="ctr"/>
            <a:r>
              <a:rPr sz="1100" b="0" i="0">
                <a:solidFill>
                  <a:srgbClr val="64748B"/>
                </a:solidFill>
                <a:latin typeface="Calibri"/>
              </a:rPr>
              <a:t>30×30 grid  ·  ~845 walls</a:t>
            </a:r>
          </a:p>
        </p:txBody>
      </p:sp>
      <p:pic>
        <p:nvPicPr>
          <p:cNvPr id="19" name="Picture 18" descr="maze_comparison.png"/>
          <p:cNvPicPr>
            <a:picLocks noChangeAspect="1"/>
          </p:cNvPicPr>
          <p:nvPr/>
        </p:nvPicPr>
        <p:blipFill>
          <a:blip r:embed="rId2"/>
          <a:stretch>
            <a:fillRect/>
          </a:stretch>
        </p:blipFill>
        <p:spPr>
          <a:xfrm>
            <a:off x="640080" y="2971800"/>
            <a:ext cx="10908792" cy="3063240"/>
          </a:xfrm>
          <a:prstGeom prst="rect">
            <a:avLst/>
          </a:prstGeom>
        </p:spPr>
      </p:pic>
      <p:sp>
        <p:nvSpPr>
          <p:cNvPr id="20" name="TextBox 19"/>
          <p:cNvSpPr txBox="1"/>
          <p:nvPr/>
        </p:nvSpPr>
        <p:spPr>
          <a:xfrm>
            <a:off x="640080" y="6172200"/>
            <a:ext cx="10908792" cy="457200"/>
          </a:xfrm>
          <a:prstGeom prst="rect">
            <a:avLst/>
          </a:prstGeom>
          <a:noFill/>
        </p:spPr>
        <p:txBody>
          <a:bodyPr wrap="square" lIns="0" rIns="0" tIns="0" bIns="0" anchor="t">
            <a:spAutoFit/>
          </a:bodyPr>
          <a:lstStyle/>
          <a:p>
            <a:pPr algn="ctr"/>
            <a:r>
              <a:rPr sz="1100" b="0" i="1">
                <a:solidFill>
                  <a:srgbClr val="64748B"/>
                </a:solidFill>
                <a:latin typeface="Calibri"/>
              </a:rPr>
              <a:t>Grid-based random walk generates topology  ·  Guaranteed-connected C_free  ·  Start q_s = [15, 15], Goal q_g = [85, 85] (with Gaussian belief over q_g)</a:t>
            </a:r>
          </a:p>
        </p:txBody>
      </p:sp>
      <p:sp>
        <p:nvSpPr>
          <p:cNvPr id="21" name="TextBox 20"/>
          <p:cNvSpPr txBox="1"/>
          <p:nvPr/>
        </p:nvSpPr>
        <p:spPr>
          <a:xfrm>
            <a:off x="10515600" y="6446520"/>
            <a:ext cx="1463040" cy="274320"/>
          </a:xfrm>
          <a:prstGeom prst="rect">
            <a:avLst/>
          </a:prstGeom>
          <a:noFill/>
        </p:spPr>
        <p:txBody>
          <a:bodyPr wrap="square" lIns="0" rIns="0" tIns="0" bIns="0" anchor="t">
            <a:spAutoFit/>
          </a:bodyPr>
          <a:lstStyle/>
          <a:p>
            <a:pPr algn="r"/>
            <a:r>
              <a:rPr sz="900" b="0" i="1">
                <a:solidFill>
                  <a:srgbClr val="64748B"/>
                </a:solidFill>
                <a:latin typeface="Calibri"/>
              </a:rPr>
              <a:t>1:55 – 2:30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02920"/>
            <a:ext cx="91440" cy="566928"/>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411480"/>
            <a:ext cx="10515600" cy="777240"/>
          </a:xfrm>
          <a:prstGeom prst="rect">
            <a:avLst/>
          </a:prstGeom>
          <a:noFill/>
        </p:spPr>
        <p:txBody>
          <a:bodyPr wrap="square" lIns="0" rIns="0" tIns="0" bIns="0" anchor="ctr">
            <a:spAutoFit/>
          </a:bodyPr>
          <a:lstStyle/>
          <a:p>
            <a:pPr algn="l"/>
            <a:r>
              <a:rPr sz="3000" b="1" i="0">
                <a:solidFill>
                  <a:srgbClr val="0F3460"/>
                </a:solidFill>
                <a:latin typeface="Calibri"/>
              </a:rPr>
              <a:t>The system, end-to-end</a:t>
            </a:r>
          </a:p>
        </p:txBody>
      </p:sp>
      <p:sp>
        <p:nvSpPr>
          <p:cNvPr id="5" name="TextBox 4"/>
          <p:cNvSpPr txBox="1"/>
          <p:nvPr/>
        </p:nvSpPr>
        <p:spPr>
          <a:xfrm>
            <a:off x="10972800" y="502920"/>
            <a:ext cx="914400" cy="457200"/>
          </a:xfrm>
          <a:prstGeom prst="rect">
            <a:avLst/>
          </a:prstGeom>
          <a:noFill/>
        </p:spPr>
        <p:txBody>
          <a:bodyPr wrap="square" lIns="0" rIns="0" tIns="0" bIns="0" anchor="ctr">
            <a:spAutoFit/>
          </a:bodyPr>
          <a:lstStyle/>
          <a:p>
            <a:pPr algn="r"/>
            <a:r>
              <a:rPr sz="1000" b="0" i="0">
                <a:solidFill>
                  <a:srgbClr val="64748B"/>
                </a:solidFill>
                <a:latin typeface="Calibri"/>
              </a:rPr>
              <a:t>5 / 12</a:t>
            </a:r>
          </a:p>
        </p:txBody>
      </p:sp>
      <p:sp>
        <p:nvSpPr>
          <p:cNvPr id="6" name="TextBox 5"/>
          <p:cNvSpPr txBox="1"/>
          <p:nvPr/>
        </p:nvSpPr>
        <p:spPr>
          <a:xfrm>
            <a:off x="640080" y="1371600"/>
            <a:ext cx="10515600" cy="365760"/>
          </a:xfrm>
          <a:prstGeom prst="rect">
            <a:avLst/>
          </a:prstGeom>
          <a:noFill/>
        </p:spPr>
        <p:txBody>
          <a:bodyPr wrap="square" lIns="0" rIns="0" tIns="0" bIns="0" anchor="t">
            <a:spAutoFit/>
          </a:bodyPr>
          <a:lstStyle/>
          <a:p>
            <a:pPr algn="l"/>
            <a:r>
              <a:rPr sz="1400" b="0" i="1">
                <a:solidFill>
                  <a:srgbClr val="64748B"/>
                </a:solidFill>
                <a:latin typeface="Calibri"/>
              </a:rPr>
              <a:t>A continuous loop: sense, update belief, sample, plan, execute, repeat.</a:t>
            </a:r>
          </a:p>
        </p:txBody>
      </p:sp>
      <p:sp>
        <p:nvSpPr>
          <p:cNvPr id="7" name="Rounded Rectangle 6"/>
          <p:cNvSpPr/>
          <p:nvPr/>
        </p:nvSpPr>
        <p:spPr>
          <a:xfrm>
            <a:off x="737463" y="2194560"/>
            <a:ext cx="2011680" cy="1554480"/>
          </a:xfrm>
          <a:prstGeom prst="roundRect">
            <a:avLst/>
          </a:prstGeom>
          <a:solidFill>
            <a:srgbClr val="FFFFFF"/>
          </a:solidFill>
          <a:ln w="9525">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7463" y="2395728"/>
            <a:ext cx="2011680" cy="457200"/>
          </a:xfrm>
          <a:prstGeom prst="rect">
            <a:avLst/>
          </a:prstGeom>
          <a:noFill/>
        </p:spPr>
        <p:txBody>
          <a:bodyPr wrap="square" lIns="0" rIns="0" tIns="0" bIns="0" anchor="t">
            <a:spAutoFit/>
          </a:bodyPr>
          <a:lstStyle/>
          <a:p>
            <a:pPr algn="ctr"/>
            <a:r>
              <a:rPr sz="1400" b="1" i="0">
                <a:solidFill>
                  <a:srgbClr val="0F3460"/>
                </a:solidFill>
                <a:latin typeface="Calibri"/>
              </a:rPr>
              <a:t>Sense</a:t>
            </a:r>
          </a:p>
        </p:txBody>
      </p:sp>
      <p:sp>
        <p:nvSpPr>
          <p:cNvPr id="9" name="TextBox 8"/>
          <p:cNvSpPr txBox="1"/>
          <p:nvPr/>
        </p:nvSpPr>
        <p:spPr>
          <a:xfrm>
            <a:off x="737463" y="2944368"/>
            <a:ext cx="2011680" cy="804672"/>
          </a:xfrm>
          <a:prstGeom prst="rect">
            <a:avLst/>
          </a:prstGeom>
          <a:noFill/>
        </p:spPr>
        <p:txBody>
          <a:bodyPr wrap="square" lIns="0" rIns="0" tIns="0" bIns="0" anchor="t">
            <a:spAutoFit/>
          </a:bodyPr>
          <a:lstStyle/>
          <a:p>
            <a:pPr algn="ctr"/>
            <a:r>
              <a:rPr sz="1000" b="0" i="0">
                <a:solidFill>
                  <a:srgbClr val="64748B"/>
                </a:solidFill>
                <a:latin typeface="Cambria"/>
              </a:rPr>
              <a:t>z_t = d(q_t,
q_goal) + ε</a:t>
            </a:r>
          </a:p>
        </p:txBody>
      </p:sp>
      <p:sp>
        <p:nvSpPr>
          <p:cNvPr id="10" name="Rectangle 9"/>
          <p:cNvSpPr/>
          <p:nvPr/>
        </p:nvSpPr>
        <p:spPr>
          <a:xfrm>
            <a:off x="2749145" y="2971798"/>
            <a:ext cx="164588" cy="4"/>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913735" y="2194560"/>
            <a:ext cx="2011680" cy="1554480"/>
          </a:xfrm>
          <a:prstGeom prst="roundRect">
            <a:avLst/>
          </a:prstGeom>
          <a:solidFill>
            <a:srgbClr val="FFFFFF"/>
          </a:solidFill>
          <a:ln w="9525">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13735" y="2395728"/>
            <a:ext cx="2011680" cy="457200"/>
          </a:xfrm>
          <a:prstGeom prst="rect">
            <a:avLst/>
          </a:prstGeom>
          <a:noFill/>
        </p:spPr>
        <p:txBody>
          <a:bodyPr wrap="square" lIns="0" rIns="0" tIns="0" bIns="0" anchor="t">
            <a:spAutoFit/>
          </a:bodyPr>
          <a:lstStyle/>
          <a:p>
            <a:pPr algn="ctr"/>
            <a:r>
              <a:rPr sz="1400" b="1" i="0">
                <a:solidFill>
                  <a:srgbClr val="0F3460"/>
                </a:solidFill>
                <a:latin typeface="Calibri"/>
              </a:rPr>
              <a:t>Update belief</a:t>
            </a:r>
          </a:p>
        </p:txBody>
      </p:sp>
      <p:sp>
        <p:nvSpPr>
          <p:cNvPr id="13" name="TextBox 12"/>
          <p:cNvSpPr txBox="1"/>
          <p:nvPr/>
        </p:nvSpPr>
        <p:spPr>
          <a:xfrm>
            <a:off x="2913735" y="2944368"/>
            <a:ext cx="2011680" cy="804672"/>
          </a:xfrm>
          <a:prstGeom prst="rect">
            <a:avLst/>
          </a:prstGeom>
          <a:noFill/>
        </p:spPr>
        <p:txBody>
          <a:bodyPr wrap="square" lIns="0" rIns="0" tIns="0" bIns="0" anchor="t">
            <a:spAutoFit/>
          </a:bodyPr>
          <a:lstStyle/>
          <a:p>
            <a:pPr algn="ctr"/>
            <a:r>
              <a:rPr sz="1000" b="0" i="0">
                <a:solidFill>
                  <a:srgbClr val="64748B"/>
                </a:solidFill>
                <a:latin typeface="Cambria"/>
              </a:rPr>
              <a:t>Kalman update
N(μ, Σ)</a:t>
            </a:r>
          </a:p>
        </p:txBody>
      </p:sp>
      <p:sp>
        <p:nvSpPr>
          <p:cNvPr id="14" name="Rectangle 13"/>
          <p:cNvSpPr/>
          <p:nvPr/>
        </p:nvSpPr>
        <p:spPr>
          <a:xfrm>
            <a:off x="4925417" y="2971798"/>
            <a:ext cx="164588" cy="4"/>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90007" y="2194560"/>
            <a:ext cx="2011680" cy="1554480"/>
          </a:xfrm>
          <a:prstGeom prst="round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90007" y="2395728"/>
            <a:ext cx="2011680" cy="457200"/>
          </a:xfrm>
          <a:prstGeom prst="rect">
            <a:avLst/>
          </a:prstGeom>
          <a:noFill/>
        </p:spPr>
        <p:txBody>
          <a:bodyPr wrap="square" lIns="0" rIns="0" tIns="0" bIns="0" anchor="t">
            <a:spAutoFit/>
          </a:bodyPr>
          <a:lstStyle/>
          <a:p>
            <a:pPr algn="ctr"/>
            <a:r>
              <a:rPr sz="1400" b="1" i="0">
                <a:solidFill>
                  <a:srgbClr val="00A896"/>
                </a:solidFill>
                <a:latin typeface="Calibri"/>
              </a:rPr>
              <a:t>Sample</a:t>
            </a:r>
          </a:p>
        </p:txBody>
      </p:sp>
      <p:sp>
        <p:nvSpPr>
          <p:cNvPr id="17" name="TextBox 16"/>
          <p:cNvSpPr txBox="1"/>
          <p:nvPr/>
        </p:nvSpPr>
        <p:spPr>
          <a:xfrm>
            <a:off x="5090007" y="2944368"/>
            <a:ext cx="2011680" cy="804672"/>
          </a:xfrm>
          <a:prstGeom prst="rect">
            <a:avLst/>
          </a:prstGeom>
          <a:noFill/>
        </p:spPr>
        <p:txBody>
          <a:bodyPr wrap="square" lIns="0" rIns="0" tIns="0" bIns="0" anchor="t">
            <a:spAutoFit/>
          </a:bodyPr>
          <a:lstStyle/>
          <a:p>
            <a:pPr algn="ctr"/>
            <a:r>
              <a:rPr sz="1000" b="0" i="0">
                <a:solidFill>
                  <a:srgbClr val="CBD5E1"/>
                </a:solidFill>
                <a:latin typeface="Cambria"/>
              </a:rPr>
              <a:t>MCMC + λ-mix
biased by b(q_goal)</a:t>
            </a:r>
          </a:p>
        </p:txBody>
      </p:sp>
      <p:sp>
        <p:nvSpPr>
          <p:cNvPr id="18" name="Rectangle 17"/>
          <p:cNvSpPr/>
          <p:nvPr/>
        </p:nvSpPr>
        <p:spPr>
          <a:xfrm>
            <a:off x="7101689" y="2971798"/>
            <a:ext cx="164588" cy="4"/>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266279" y="2194560"/>
            <a:ext cx="2011680" cy="1554480"/>
          </a:xfrm>
          <a:prstGeom prst="roundRect">
            <a:avLst/>
          </a:prstGeom>
          <a:solidFill>
            <a:srgbClr val="FFFFFF"/>
          </a:solidFill>
          <a:ln w="9525">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66279" y="2395728"/>
            <a:ext cx="2011680" cy="457200"/>
          </a:xfrm>
          <a:prstGeom prst="rect">
            <a:avLst/>
          </a:prstGeom>
          <a:noFill/>
        </p:spPr>
        <p:txBody>
          <a:bodyPr wrap="square" lIns="0" rIns="0" tIns="0" bIns="0" anchor="t">
            <a:spAutoFit/>
          </a:bodyPr>
          <a:lstStyle/>
          <a:p>
            <a:pPr algn="ctr"/>
            <a:r>
              <a:rPr sz="1400" b="1" i="0">
                <a:solidFill>
                  <a:srgbClr val="0F3460"/>
                </a:solidFill>
                <a:latin typeface="Calibri"/>
              </a:rPr>
              <a:t>Plan</a:t>
            </a:r>
          </a:p>
        </p:txBody>
      </p:sp>
      <p:sp>
        <p:nvSpPr>
          <p:cNvPr id="21" name="TextBox 20"/>
          <p:cNvSpPr txBox="1"/>
          <p:nvPr/>
        </p:nvSpPr>
        <p:spPr>
          <a:xfrm>
            <a:off x="7266279" y="2944368"/>
            <a:ext cx="2011680" cy="804672"/>
          </a:xfrm>
          <a:prstGeom prst="rect">
            <a:avLst/>
          </a:prstGeom>
          <a:noFill/>
        </p:spPr>
        <p:txBody>
          <a:bodyPr wrap="square" lIns="0" rIns="0" tIns="0" bIns="0" anchor="t">
            <a:spAutoFit/>
          </a:bodyPr>
          <a:lstStyle/>
          <a:p>
            <a:pPr algn="ctr"/>
            <a:r>
              <a:rPr sz="1000" b="0" i="0">
                <a:solidFill>
                  <a:srgbClr val="64748B"/>
                </a:solidFill>
                <a:latin typeface="Cambria"/>
              </a:rPr>
              <a:t>RRT extends
step η toward q_samp</a:t>
            </a:r>
          </a:p>
        </p:txBody>
      </p:sp>
      <p:sp>
        <p:nvSpPr>
          <p:cNvPr id="22" name="Rectangle 21"/>
          <p:cNvSpPr/>
          <p:nvPr/>
        </p:nvSpPr>
        <p:spPr>
          <a:xfrm>
            <a:off x="9277961" y="2971798"/>
            <a:ext cx="164588" cy="4"/>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442551" y="2194560"/>
            <a:ext cx="2011680" cy="1554480"/>
          </a:xfrm>
          <a:prstGeom prst="roundRect">
            <a:avLst/>
          </a:prstGeom>
          <a:solidFill>
            <a:srgbClr val="FFFFFF"/>
          </a:solidFill>
          <a:ln w="9525">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42551" y="2395728"/>
            <a:ext cx="2011680" cy="457200"/>
          </a:xfrm>
          <a:prstGeom prst="rect">
            <a:avLst/>
          </a:prstGeom>
          <a:noFill/>
        </p:spPr>
        <p:txBody>
          <a:bodyPr wrap="square" lIns="0" rIns="0" tIns="0" bIns="0" anchor="t">
            <a:spAutoFit/>
          </a:bodyPr>
          <a:lstStyle/>
          <a:p>
            <a:pPr algn="ctr"/>
            <a:r>
              <a:rPr sz="1400" b="1" i="0">
                <a:solidFill>
                  <a:srgbClr val="0F3460"/>
                </a:solidFill>
                <a:latin typeface="Calibri"/>
              </a:rPr>
              <a:t>Execute</a:t>
            </a:r>
          </a:p>
        </p:txBody>
      </p:sp>
      <p:sp>
        <p:nvSpPr>
          <p:cNvPr id="25" name="TextBox 24"/>
          <p:cNvSpPr txBox="1"/>
          <p:nvPr/>
        </p:nvSpPr>
        <p:spPr>
          <a:xfrm>
            <a:off x="9442551" y="2944368"/>
            <a:ext cx="2011680" cy="804672"/>
          </a:xfrm>
          <a:prstGeom prst="rect">
            <a:avLst/>
          </a:prstGeom>
          <a:noFill/>
        </p:spPr>
        <p:txBody>
          <a:bodyPr wrap="square" lIns="0" rIns="0" tIns="0" bIns="0" anchor="t">
            <a:spAutoFit/>
          </a:bodyPr>
          <a:lstStyle/>
          <a:p>
            <a:pPr algn="ctr"/>
            <a:r>
              <a:rPr sz="1000" b="0" i="0">
                <a:solidFill>
                  <a:srgbClr val="64748B"/>
                </a:solidFill>
                <a:latin typeface="Cambria"/>
              </a:rPr>
              <a:t>follow path
trigger replan</a:t>
            </a:r>
          </a:p>
        </p:txBody>
      </p:sp>
      <p:sp>
        <p:nvSpPr>
          <p:cNvPr id="26" name="TextBox 25"/>
          <p:cNvSpPr txBox="1"/>
          <p:nvPr/>
        </p:nvSpPr>
        <p:spPr>
          <a:xfrm>
            <a:off x="640080" y="4251960"/>
            <a:ext cx="10972800" cy="365760"/>
          </a:xfrm>
          <a:prstGeom prst="rect">
            <a:avLst/>
          </a:prstGeom>
          <a:noFill/>
        </p:spPr>
        <p:txBody>
          <a:bodyPr wrap="square" lIns="0" rIns="0" tIns="0" bIns="0" anchor="t">
            <a:spAutoFit/>
          </a:bodyPr>
          <a:lstStyle/>
          <a:p>
            <a:pPr algn="ctr"/>
            <a:r>
              <a:rPr sz="1200" b="0" i="1">
                <a:solidFill>
                  <a:srgbClr val="00A896"/>
                </a:solidFill>
                <a:latin typeface="Calibri"/>
              </a:rPr>
              <a:t>↺  replan triggered when H(b) = −Σ p_i log p_i drops past threshold</a:t>
            </a:r>
          </a:p>
        </p:txBody>
      </p:sp>
      <p:sp>
        <p:nvSpPr>
          <p:cNvPr id="27" name="TextBox 26"/>
          <p:cNvSpPr txBox="1"/>
          <p:nvPr/>
        </p:nvSpPr>
        <p:spPr>
          <a:xfrm>
            <a:off x="640080" y="4800600"/>
            <a:ext cx="5303520" cy="777240"/>
          </a:xfrm>
          <a:prstGeom prst="rect">
            <a:avLst/>
          </a:prstGeom>
          <a:noFill/>
        </p:spPr>
        <p:txBody>
          <a:bodyPr wrap="square" lIns="0" rIns="0" tIns="0" bIns="0">
            <a:spAutoFit/>
          </a:bodyPr>
          <a:lstStyle/>
          <a:p>
            <a:pPr algn="l">
              <a:spcAft>
                <a:spcPts val="800"/>
              </a:spcAft>
            </a:pPr>
            <a:r>
              <a:rPr sz="1200" b="1">
                <a:solidFill>
                  <a:srgbClr val="00A896"/>
                </a:solidFill>
                <a:latin typeface="Calibri"/>
              </a:rPr>
              <a:t>▸  </a:t>
            </a:r>
            <a:r>
              <a:rPr sz="1200" b="0" i="0">
                <a:solidFill>
                  <a:srgbClr val="1E293B"/>
                </a:solidFill>
                <a:latin typeface="Calibri"/>
              </a:rPr>
              <a:t>Collision checking: Shapely polygon intersection, ~0.33 ms/query</a:t>
            </a:r>
          </a:p>
          <a:p>
            <a:pPr algn="l">
              <a:spcAft>
                <a:spcPts val="800"/>
              </a:spcAft>
            </a:pPr>
            <a:r>
              <a:rPr sz="1200" b="1">
                <a:solidFill>
                  <a:srgbClr val="00A896"/>
                </a:solidFill>
                <a:latin typeface="Calibri"/>
              </a:rPr>
              <a:t>▸  </a:t>
            </a:r>
            <a:r>
              <a:rPr sz="1200" b="0" i="0">
                <a:solidFill>
                  <a:srgbClr val="1E293B"/>
                </a:solidFill>
                <a:latin typeface="Calibri"/>
              </a:rPr>
              <a:t>Nearest-neighbor: scipy KD-tree, O(log n) per lookup</a:t>
            </a:r>
          </a:p>
        </p:txBody>
      </p:sp>
      <p:sp>
        <p:nvSpPr>
          <p:cNvPr id="28" name="TextBox 27"/>
          <p:cNvSpPr txBox="1"/>
          <p:nvPr/>
        </p:nvSpPr>
        <p:spPr>
          <a:xfrm>
            <a:off x="6263640" y="4800600"/>
            <a:ext cx="5303520" cy="777240"/>
          </a:xfrm>
          <a:prstGeom prst="rect">
            <a:avLst/>
          </a:prstGeom>
          <a:noFill/>
        </p:spPr>
        <p:txBody>
          <a:bodyPr wrap="square" lIns="0" rIns="0" tIns="0" bIns="0">
            <a:spAutoFit/>
          </a:bodyPr>
          <a:lstStyle/>
          <a:p>
            <a:pPr algn="l">
              <a:spcAft>
                <a:spcPts val="800"/>
              </a:spcAft>
            </a:pPr>
            <a:r>
              <a:rPr sz="1200" b="1">
                <a:solidFill>
                  <a:srgbClr val="00A896"/>
                </a:solidFill>
                <a:latin typeface="Calibri"/>
              </a:rPr>
              <a:t>▸  </a:t>
            </a:r>
            <a:r>
              <a:rPr sz="1200" b="0" i="0">
                <a:solidFill>
                  <a:srgbClr val="1E293B"/>
                </a:solidFill>
                <a:latin typeface="Calibri"/>
              </a:rPr>
              <a:t>MCMC chain: Metropolis-Hastings with Boltzmann π(q) ∝ exp(−J(q)/T), T=10</a:t>
            </a:r>
          </a:p>
          <a:p>
            <a:pPr algn="l">
              <a:spcAft>
                <a:spcPts val="800"/>
              </a:spcAft>
            </a:pPr>
            <a:r>
              <a:rPr sz="1200" b="1">
                <a:solidFill>
                  <a:srgbClr val="00A896"/>
                </a:solidFill>
                <a:latin typeface="Calibri"/>
              </a:rPr>
              <a:t>▸  </a:t>
            </a:r>
            <a:r>
              <a:rPr sz="1200" b="0" i="0">
                <a:solidFill>
                  <a:srgbClr val="1E293B"/>
                </a:solidFill>
                <a:latin typeface="Calibri"/>
              </a:rPr>
              <a:t>Step size η=2.0 units; max 15,000 RRT iterations per planning episode</a:t>
            </a:r>
          </a:p>
        </p:txBody>
      </p:sp>
      <p:sp>
        <p:nvSpPr>
          <p:cNvPr id="29" name="TextBox 28"/>
          <p:cNvSpPr txBox="1"/>
          <p:nvPr/>
        </p:nvSpPr>
        <p:spPr>
          <a:xfrm>
            <a:off x="10515600" y="6446520"/>
            <a:ext cx="1463040" cy="274320"/>
          </a:xfrm>
          <a:prstGeom prst="rect">
            <a:avLst/>
          </a:prstGeom>
          <a:noFill/>
        </p:spPr>
        <p:txBody>
          <a:bodyPr wrap="square" lIns="0" rIns="0" tIns="0" bIns="0" anchor="t">
            <a:spAutoFit/>
          </a:bodyPr>
          <a:lstStyle/>
          <a:p>
            <a:pPr algn="r"/>
            <a:r>
              <a:rPr sz="900" b="0" i="1">
                <a:solidFill>
                  <a:srgbClr val="64748B"/>
                </a:solidFill>
                <a:latin typeface="Calibri"/>
              </a:rPr>
              <a:t>2:30 – 3:10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02920"/>
            <a:ext cx="91440" cy="566928"/>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411480"/>
            <a:ext cx="10515600" cy="777240"/>
          </a:xfrm>
          <a:prstGeom prst="rect">
            <a:avLst/>
          </a:prstGeom>
          <a:noFill/>
        </p:spPr>
        <p:txBody>
          <a:bodyPr wrap="square" lIns="0" rIns="0" tIns="0" bIns="0" anchor="ctr">
            <a:spAutoFit/>
          </a:bodyPr>
          <a:lstStyle/>
          <a:p>
            <a:pPr algn="l"/>
            <a:r>
              <a:rPr sz="3000" b="1" i="0">
                <a:solidFill>
                  <a:srgbClr val="0F3460"/>
                </a:solidFill>
                <a:latin typeface="Calibri"/>
              </a:rPr>
              <a:t>The sampler: lambda biasing</a:t>
            </a:r>
          </a:p>
        </p:txBody>
      </p:sp>
      <p:sp>
        <p:nvSpPr>
          <p:cNvPr id="5" name="TextBox 4"/>
          <p:cNvSpPr txBox="1"/>
          <p:nvPr/>
        </p:nvSpPr>
        <p:spPr>
          <a:xfrm>
            <a:off x="10972800" y="502920"/>
            <a:ext cx="914400" cy="457200"/>
          </a:xfrm>
          <a:prstGeom prst="rect">
            <a:avLst/>
          </a:prstGeom>
          <a:noFill/>
        </p:spPr>
        <p:txBody>
          <a:bodyPr wrap="square" lIns="0" rIns="0" tIns="0" bIns="0" anchor="ctr">
            <a:spAutoFit/>
          </a:bodyPr>
          <a:lstStyle/>
          <a:p>
            <a:pPr algn="r"/>
            <a:r>
              <a:rPr sz="1000" b="0" i="0">
                <a:solidFill>
                  <a:srgbClr val="64748B"/>
                </a:solidFill>
                <a:latin typeface="Calibri"/>
              </a:rPr>
              <a:t>6 / 12</a:t>
            </a:r>
          </a:p>
        </p:txBody>
      </p:sp>
      <p:sp>
        <p:nvSpPr>
          <p:cNvPr id="6" name="Rounded Rectangle 5"/>
          <p:cNvSpPr/>
          <p:nvPr/>
        </p:nvSpPr>
        <p:spPr>
          <a:xfrm>
            <a:off x="640080" y="1554480"/>
            <a:ext cx="10908792" cy="1234440"/>
          </a:xfrm>
          <a:prstGeom prst="round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847088"/>
            <a:ext cx="10908792" cy="640080"/>
          </a:xfrm>
          <a:prstGeom prst="rect">
            <a:avLst/>
          </a:prstGeom>
          <a:noFill/>
        </p:spPr>
        <p:txBody>
          <a:bodyPr wrap="square" lIns="0" rIns="0" tIns="0" bIns="0" anchor="t">
            <a:spAutoFit/>
          </a:bodyPr>
          <a:lstStyle/>
          <a:p>
            <a:pPr algn="ctr"/>
            <a:r>
              <a:rPr sz="2700" b="1" i="0">
                <a:solidFill>
                  <a:srgbClr val="0F3460"/>
                </a:solidFill>
                <a:latin typeface="Cambria"/>
              </a:rPr>
              <a:t>q_samp  ~  (1 − λ) · MCMC( π )  +  λ · Uniform( X_free )</a:t>
            </a:r>
          </a:p>
        </p:txBody>
      </p:sp>
      <p:sp>
        <p:nvSpPr>
          <p:cNvPr id="8" name="TextBox 7"/>
          <p:cNvSpPr txBox="1"/>
          <p:nvPr/>
        </p:nvSpPr>
        <p:spPr>
          <a:xfrm>
            <a:off x="1645920" y="2514600"/>
            <a:ext cx="5029200" cy="256032"/>
          </a:xfrm>
          <a:prstGeom prst="rect">
            <a:avLst/>
          </a:prstGeom>
          <a:noFill/>
        </p:spPr>
        <p:txBody>
          <a:bodyPr wrap="square" lIns="0" rIns="0" tIns="0" bIns="0" anchor="t">
            <a:spAutoFit/>
          </a:bodyPr>
          <a:lstStyle/>
          <a:p>
            <a:pPr algn="l"/>
            <a:r>
              <a:rPr sz="1100" b="0" i="1">
                <a:solidFill>
                  <a:srgbClr val="00A896"/>
                </a:solidFill>
                <a:latin typeface="Calibri"/>
              </a:rPr>
              <a:t>exploit goal belief   (λ = 0.30 in all experiments)</a:t>
            </a:r>
          </a:p>
        </p:txBody>
      </p:sp>
      <p:sp>
        <p:nvSpPr>
          <p:cNvPr id="9" name="TextBox 8"/>
          <p:cNvSpPr txBox="1"/>
          <p:nvPr/>
        </p:nvSpPr>
        <p:spPr>
          <a:xfrm>
            <a:off x="7132320" y="2514600"/>
            <a:ext cx="3474720" cy="256032"/>
          </a:xfrm>
          <a:prstGeom prst="rect">
            <a:avLst/>
          </a:prstGeom>
          <a:noFill/>
        </p:spPr>
        <p:txBody>
          <a:bodyPr wrap="square" lIns="0" rIns="0" tIns="0" bIns="0" anchor="t">
            <a:spAutoFit/>
          </a:bodyPr>
          <a:lstStyle/>
          <a:p>
            <a:pPr algn="l"/>
            <a:r>
              <a:rPr sz="1100" b="0" i="1">
                <a:solidFill>
                  <a:srgbClr val="E76F51"/>
                </a:solidFill>
                <a:latin typeface="Calibri"/>
              </a:rPr>
              <a:t>guarantee coverage + completeness</a:t>
            </a:r>
          </a:p>
        </p:txBody>
      </p:sp>
      <p:sp>
        <p:nvSpPr>
          <p:cNvPr id="10" name="Rounded Rectangle 9"/>
          <p:cNvSpPr/>
          <p:nvPr/>
        </p:nvSpPr>
        <p:spPr>
          <a:xfrm>
            <a:off x="640080" y="3154680"/>
            <a:ext cx="3520440" cy="2487168"/>
          </a:xfrm>
          <a:prstGeom prst="round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3154680"/>
            <a:ext cx="3520440" cy="8229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3383280"/>
            <a:ext cx="3118104" cy="384048"/>
          </a:xfrm>
          <a:prstGeom prst="rect">
            <a:avLst/>
          </a:prstGeom>
          <a:noFill/>
        </p:spPr>
        <p:txBody>
          <a:bodyPr wrap="square" lIns="0" rIns="0" tIns="0" bIns="0" anchor="t">
            <a:spAutoFit/>
          </a:bodyPr>
          <a:lstStyle/>
          <a:p>
            <a:pPr algn="l"/>
            <a:r>
              <a:rPr sz="1400" b="1" i="0">
                <a:solidFill>
                  <a:srgbClr val="00A896"/>
                </a:solidFill>
                <a:latin typeface="Calibri"/>
              </a:rPr>
              <a:t>Why the mix?</a:t>
            </a:r>
          </a:p>
        </p:txBody>
      </p:sp>
      <p:sp>
        <p:nvSpPr>
          <p:cNvPr id="13" name="TextBox 12"/>
          <p:cNvSpPr txBox="1"/>
          <p:nvPr/>
        </p:nvSpPr>
        <p:spPr>
          <a:xfrm>
            <a:off x="841248" y="3867912"/>
            <a:ext cx="3118104" cy="1618488"/>
          </a:xfrm>
          <a:prstGeom prst="rect">
            <a:avLst/>
          </a:prstGeom>
          <a:noFill/>
        </p:spPr>
        <p:txBody>
          <a:bodyPr wrap="square" lIns="0" rIns="0" tIns="0" bIns="0" anchor="t">
            <a:spAutoFit/>
          </a:bodyPr>
          <a:lstStyle/>
          <a:p>
            <a:pPr algn="l"/>
            <a:r>
              <a:rPr sz="1100" b="0" i="0">
                <a:solidFill>
                  <a:srgbClr val="1E293B"/>
                </a:solidFill>
                <a:latin typeface="Calibri"/>
              </a:rPr>
              <a:t>Pure MCMC concentrates mass near the current belief mean μ. If μ is wrong (early in the mission), the chain gets trapped and the tree stops growing toward the true goal — probabilistic completeness is lost.</a:t>
            </a:r>
          </a:p>
        </p:txBody>
      </p:sp>
      <p:sp>
        <p:nvSpPr>
          <p:cNvPr id="14" name="Rounded Rectangle 13"/>
          <p:cNvSpPr/>
          <p:nvPr/>
        </p:nvSpPr>
        <p:spPr>
          <a:xfrm>
            <a:off x="4343400" y="3154680"/>
            <a:ext cx="3520440" cy="2487168"/>
          </a:xfrm>
          <a:prstGeom prst="round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3400" y="3154680"/>
            <a:ext cx="3520440" cy="82296"/>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44568" y="3383280"/>
            <a:ext cx="3118104" cy="384048"/>
          </a:xfrm>
          <a:prstGeom prst="rect">
            <a:avLst/>
          </a:prstGeom>
          <a:noFill/>
        </p:spPr>
        <p:txBody>
          <a:bodyPr wrap="square" lIns="0" rIns="0" tIns="0" bIns="0" anchor="t">
            <a:spAutoFit/>
          </a:bodyPr>
          <a:lstStyle/>
          <a:p>
            <a:pPr algn="l"/>
            <a:r>
              <a:rPr sz="1400" b="1" i="0">
                <a:solidFill>
                  <a:srgbClr val="0F3460"/>
                </a:solidFill>
                <a:latin typeface="Calibri"/>
              </a:rPr>
              <a:t>MCMC target: π(q)</a:t>
            </a:r>
          </a:p>
        </p:txBody>
      </p:sp>
      <p:sp>
        <p:nvSpPr>
          <p:cNvPr id="17" name="TextBox 16"/>
          <p:cNvSpPr txBox="1"/>
          <p:nvPr/>
        </p:nvSpPr>
        <p:spPr>
          <a:xfrm>
            <a:off x="4544568" y="3867912"/>
            <a:ext cx="3118104" cy="1618488"/>
          </a:xfrm>
          <a:prstGeom prst="rect">
            <a:avLst/>
          </a:prstGeom>
          <a:noFill/>
        </p:spPr>
        <p:txBody>
          <a:bodyPr wrap="square" lIns="0" rIns="0" tIns="0" bIns="0" anchor="t">
            <a:spAutoFit/>
          </a:bodyPr>
          <a:lstStyle/>
          <a:p>
            <a:pPr algn="l"/>
            <a:r>
              <a:rPr sz="1100" b="0" i="0">
                <a:solidFill>
                  <a:srgbClr val="1E293B"/>
                </a:solidFill>
                <a:latin typeface="Calibri"/>
              </a:rPr>
              <a:t>Boltzmann: π(q) ∝ exp(−J(q)/T)
Temperature T=10 controls sharpness.
Metropolis-Hastings: proposal std=5.0,
accept/reject preserves π.</a:t>
            </a:r>
          </a:p>
        </p:txBody>
      </p:sp>
      <p:sp>
        <p:nvSpPr>
          <p:cNvPr id="18" name="Rounded Rectangle 17"/>
          <p:cNvSpPr/>
          <p:nvPr/>
        </p:nvSpPr>
        <p:spPr>
          <a:xfrm>
            <a:off x="8046720" y="3154680"/>
            <a:ext cx="3520440" cy="2487168"/>
          </a:xfrm>
          <a:prstGeom prst="round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3154680"/>
            <a:ext cx="3520440" cy="82296"/>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7888" y="3383280"/>
            <a:ext cx="3118104" cy="384048"/>
          </a:xfrm>
          <a:prstGeom prst="rect">
            <a:avLst/>
          </a:prstGeom>
          <a:noFill/>
        </p:spPr>
        <p:txBody>
          <a:bodyPr wrap="square" lIns="0" rIns="0" tIns="0" bIns="0" anchor="t">
            <a:spAutoFit/>
          </a:bodyPr>
          <a:lstStyle/>
          <a:p>
            <a:pPr algn="l"/>
            <a:r>
              <a:rPr sz="1400" b="1" i="0">
                <a:solidFill>
                  <a:srgbClr val="E76F51"/>
                </a:solidFill>
                <a:latin typeface="Calibri"/>
              </a:rPr>
              <a:t>Engineering payoff</a:t>
            </a:r>
          </a:p>
        </p:txBody>
      </p:sp>
      <p:sp>
        <p:nvSpPr>
          <p:cNvPr id="21" name="TextBox 20"/>
          <p:cNvSpPr txBox="1"/>
          <p:nvPr/>
        </p:nvSpPr>
        <p:spPr>
          <a:xfrm>
            <a:off x="8247888" y="3867912"/>
            <a:ext cx="3118104" cy="1618488"/>
          </a:xfrm>
          <a:prstGeom prst="rect">
            <a:avLst/>
          </a:prstGeom>
          <a:noFill/>
        </p:spPr>
        <p:txBody>
          <a:bodyPr wrap="square" lIns="0" rIns="0" tIns="0" bIns="0" anchor="t">
            <a:spAutoFit/>
          </a:bodyPr>
          <a:lstStyle/>
          <a:p>
            <a:pPr algn="l"/>
            <a:r>
              <a:rPr sz="1100" b="0" i="0">
                <a:solidFill>
                  <a:srgbClr val="1E293B"/>
                </a:solidFill>
                <a:latin typeface="Calibri"/>
              </a:rPr>
              <a:t>Chain state persists across iterations; uniform draws don't reset it. 30% uniform restores completeness. Tunable: λ ↑ for wider exploration, λ ↓ once belief tightens.</a:t>
            </a:r>
          </a:p>
        </p:txBody>
      </p:sp>
      <p:sp>
        <p:nvSpPr>
          <p:cNvPr id="22" name="TextBox 21"/>
          <p:cNvSpPr txBox="1"/>
          <p:nvPr/>
        </p:nvSpPr>
        <p:spPr>
          <a:xfrm>
            <a:off x="10515600" y="6446520"/>
            <a:ext cx="1463040" cy="274320"/>
          </a:xfrm>
          <a:prstGeom prst="rect">
            <a:avLst/>
          </a:prstGeom>
          <a:noFill/>
        </p:spPr>
        <p:txBody>
          <a:bodyPr wrap="square" lIns="0" rIns="0" tIns="0" bIns="0" anchor="t">
            <a:spAutoFit/>
          </a:bodyPr>
          <a:lstStyle/>
          <a:p>
            <a:pPr algn="r"/>
            <a:r>
              <a:rPr sz="900" b="0" i="1">
                <a:solidFill>
                  <a:srgbClr val="64748B"/>
                </a:solidFill>
                <a:latin typeface="Calibri"/>
              </a:rPr>
              <a:t>3:10 – 3:55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02920"/>
            <a:ext cx="91440" cy="566928"/>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411480"/>
            <a:ext cx="10515600" cy="777240"/>
          </a:xfrm>
          <a:prstGeom prst="rect">
            <a:avLst/>
          </a:prstGeom>
          <a:noFill/>
        </p:spPr>
        <p:txBody>
          <a:bodyPr wrap="square" lIns="0" rIns="0" tIns="0" bIns="0" anchor="ctr">
            <a:spAutoFit/>
          </a:bodyPr>
          <a:lstStyle/>
          <a:p>
            <a:pPr algn="l"/>
            <a:r>
              <a:rPr sz="3000" b="1" i="0">
                <a:solidFill>
                  <a:srgbClr val="0F3460"/>
                </a:solidFill>
                <a:latin typeface="Calibri"/>
              </a:rPr>
              <a:t>Information-aware cost function</a:t>
            </a:r>
          </a:p>
        </p:txBody>
      </p:sp>
      <p:sp>
        <p:nvSpPr>
          <p:cNvPr id="5" name="TextBox 4"/>
          <p:cNvSpPr txBox="1"/>
          <p:nvPr/>
        </p:nvSpPr>
        <p:spPr>
          <a:xfrm>
            <a:off x="10972800" y="502920"/>
            <a:ext cx="914400" cy="457200"/>
          </a:xfrm>
          <a:prstGeom prst="rect">
            <a:avLst/>
          </a:prstGeom>
          <a:noFill/>
        </p:spPr>
        <p:txBody>
          <a:bodyPr wrap="square" lIns="0" rIns="0" tIns="0" bIns="0" anchor="ctr">
            <a:spAutoFit/>
          </a:bodyPr>
          <a:lstStyle/>
          <a:p>
            <a:pPr algn="r"/>
            <a:r>
              <a:rPr sz="1000" b="0" i="0">
                <a:solidFill>
                  <a:srgbClr val="64748B"/>
                </a:solidFill>
                <a:latin typeface="Calibri"/>
              </a:rPr>
              <a:t>7 / 12</a:t>
            </a:r>
          </a:p>
        </p:txBody>
      </p:sp>
      <p:sp>
        <p:nvSpPr>
          <p:cNvPr id="6" name="Rounded Rectangle 5"/>
          <p:cNvSpPr/>
          <p:nvPr/>
        </p:nvSpPr>
        <p:spPr>
          <a:xfrm>
            <a:off x="640080" y="1536192"/>
            <a:ext cx="10908792" cy="960120"/>
          </a:xfrm>
          <a:prstGeom prst="round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46504"/>
            <a:ext cx="10908792" cy="530352"/>
          </a:xfrm>
          <a:prstGeom prst="rect">
            <a:avLst/>
          </a:prstGeom>
          <a:noFill/>
        </p:spPr>
        <p:txBody>
          <a:bodyPr wrap="square" lIns="0" rIns="0" tIns="0" bIns="0" anchor="t">
            <a:spAutoFit/>
          </a:bodyPr>
          <a:lstStyle/>
          <a:p>
            <a:pPr algn="ctr"/>
            <a:r>
              <a:rPr sz="2200" b="1" i="0">
                <a:solidFill>
                  <a:srgbClr val="0F3460"/>
                </a:solidFill>
                <a:latin typeface="Cambria"/>
              </a:rPr>
              <a:t>J(q)  =  λ_g · ∥q − μ∥  +  λ_c · J_clear(q)  −  λ_i · I(q, Σ)</a:t>
            </a:r>
          </a:p>
        </p:txBody>
      </p:sp>
      <p:sp>
        <p:nvSpPr>
          <p:cNvPr id="8" name="TextBox 7"/>
          <p:cNvSpPr txBox="1"/>
          <p:nvPr/>
        </p:nvSpPr>
        <p:spPr>
          <a:xfrm>
            <a:off x="640080" y="2313432"/>
            <a:ext cx="10908792" cy="274320"/>
          </a:xfrm>
          <a:prstGeom prst="rect">
            <a:avLst/>
          </a:prstGeom>
          <a:noFill/>
        </p:spPr>
        <p:txBody>
          <a:bodyPr wrap="square" lIns="0" rIns="0" tIns="0" bIns="0" anchor="t">
            <a:spAutoFit/>
          </a:bodyPr>
          <a:lstStyle/>
          <a:p>
            <a:pPr algn="ctr"/>
            <a:r>
              <a:rPr sz="1100" b="0" i="1">
                <a:solidFill>
                  <a:srgbClr val="64748B"/>
                </a:solidFill>
                <a:latin typeface="Calibri"/>
              </a:rPr>
              <a:t>λ_g = 1.0       λ_c = 0.5       λ_i = 2.0       T = 10.0  (Boltzmann temperature)</a:t>
            </a:r>
          </a:p>
        </p:txBody>
      </p:sp>
      <p:sp>
        <p:nvSpPr>
          <p:cNvPr id="9" name="Rounded Rectangle 8"/>
          <p:cNvSpPr/>
          <p:nvPr/>
        </p:nvSpPr>
        <p:spPr>
          <a:xfrm>
            <a:off x="640080" y="2834640"/>
            <a:ext cx="10908792" cy="1005840"/>
          </a:xfrm>
          <a:prstGeom prst="round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2834640"/>
            <a:ext cx="109728" cy="1005840"/>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3017520" cy="731520"/>
          </a:xfrm>
          <a:prstGeom prst="rect">
            <a:avLst/>
          </a:prstGeom>
          <a:noFill/>
        </p:spPr>
        <p:txBody>
          <a:bodyPr wrap="square" lIns="0" rIns="0" tIns="0" bIns="0" anchor="ctr">
            <a:spAutoFit/>
          </a:bodyPr>
          <a:lstStyle/>
          <a:p>
            <a:pPr algn="l"/>
            <a:r>
              <a:rPr sz="1300" b="1" i="0">
                <a:solidFill>
                  <a:srgbClr val="00A896"/>
                </a:solidFill>
                <a:latin typeface="Cambria"/>
              </a:rPr>
              <a:t>λ_g · ∥q − μ∥</a:t>
            </a:r>
          </a:p>
        </p:txBody>
      </p:sp>
      <p:sp>
        <p:nvSpPr>
          <p:cNvPr id="12" name="TextBox 11"/>
          <p:cNvSpPr txBox="1"/>
          <p:nvPr/>
        </p:nvSpPr>
        <p:spPr>
          <a:xfrm>
            <a:off x="4069080" y="2944368"/>
            <a:ext cx="7955279" cy="786384"/>
          </a:xfrm>
          <a:prstGeom prst="rect">
            <a:avLst/>
          </a:prstGeom>
          <a:noFill/>
        </p:spPr>
        <p:txBody>
          <a:bodyPr wrap="square" lIns="0" rIns="0" tIns="0" bIns="0" anchor="ctr">
            <a:spAutoFit/>
          </a:bodyPr>
          <a:lstStyle/>
          <a:p>
            <a:pPr algn="l"/>
            <a:r>
              <a:rPr sz="1100" b="0" i="0">
                <a:solidFill>
                  <a:srgbClr val="1E293B"/>
                </a:solidFill>
                <a:latin typeface="Calibri"/>
              </a:rPr>
              <a:t>Euclidean distance to belief mean μ — convex, no gradient reversals. Pulls samples toward the most likely goal location. Weight λ_g=1.0.</a:t>
            </a:r>
          </a:p>
        </p:txBody>
      </p:sp>
      <p:sp>
        <p:nvSpPr>
          <p:cNvPr id="13" name="Rounded Rectangle 12"/>
          <p:cNvSpPr/>
          <p:nvPr/>
        </p:nvSpPr>
        <p:spPr>
          <a:xfrm>
            <a:off x="640080" y="3968496"/>
            <a:ext cx="10908792" cy="1005840"/>
          </a:xfrm>
          <a:prstGeom prst="round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3968496"/>
            <a:ext cx="109728" cy="100584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105656"/>
            <a:ext cx="3017520" cy="731520"/>
          </a:xfrm>
          <a:prstGeom prst="rect">
            <a:avLst/>
          </a:prstGeom>
          <a:noFill/>
        </p:spPr>
        <p:txBody>
          <a:bodyPr wrap="square" lIns="0" rIns="0" tIns="0" bIns="0" anchor="ctr">
            <a:spAutoFit/>
          </a:bodyPr>
          <a:lstStyle/>
          <a:p>
            <a:pPr algn="l"/>
            <a:r>
              <a:rPr sz="1300" b="1" i="0">
                <a:solidFill>
                  <a:srgbClr val="0F3460"/>
                </a:solidFill>
                <a:latin typeface="Cambria"/>
              </a:rPr>
              <a:t>J_clear(q) = λ_c / (d_obs(q) + ε)</a:t>
            </a:r>
          </a:p>
        </p:txBody>
      </p:sp>
      <p:sp>
        <p:nvSpPr>
          <p:cNvPr id="16" name="TextBox 15"/>
          <p:cNvSpPr txBox="1"/>
          <p:nvPr/>
        </p:nvSpPr>
        <p:spPr>
          <a:xfrm>
            <a:off x="4069080" y="4078224"/>
            <a:ext cx="7955279" cy="786384"/>
          </a:xfrm>
          <a:prstGeom prst="rect">
            <a:avLst/>
          </a:prstGeom>
          <a:noFill/>
        </p:spPr>
        <p:txBody>
          <a:bodyPr wrap="square" lIns="0" rIns="0" tIns="0" bIns="0" anchor="ctr">
            <a:spAutoFit/>
          </a:bodyPr>
          <a:lstStyle/>
          <a:p>
            <a:pPr algn="l"/>
            <a:r>
              <a:rPr sz="1100" b="0" i="0">
                <a:solidFill>
                  <a:srgbClr val="1E293B"/>
                </a:solidFill>
                <a:latin typeface="Calibri"/>
              </a:rPr>
              <a:t>Repulsive potential from nearest obstacle. d_obs = min distance to obstacle boundary, ε=0.1 prevents instability. Assigns J=+∞ for q ∈ X_obs.  Weight λ_c=0.5.</a:t>
            </a:r>
          </a:p>
        </p:txBody>
      </p:sp>
      <p:sp>
        <p:nvSpPr>
          <p:cNvPr id="17" name="Rounded Rectangle 16"/>
          <p:cNvSpPr/>
          <p:nvPr/>
        </p:nvSpPr>
        <p:spPr>
          <a:xfrm>
            <a:off x="640080" y="5102352"/>
            <a:ext cx="10908792" cy="1005840"/>
          </a:xfrm>
          <a:prstGeom prst="round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5102352"/>
            <a:ext cx="109728" cy="100584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5239512"/>
            <a:ext cx="3017520" cy="731520"/>
          </a:xfrm>
          <a:prstGeom prst="rect">
            <a:avLst/>
          </a:prstGeom>
          <a:noFill/>
        </p:spPr>
        <p:txBody>
          <a:bodyPr wrap="square" lIns="0" rIns="0" tIns="0" bIns="0" anchor="ctr">
            <a:spAutoFit/>
          </a:bodyPr>
          <a:lstStyle/>
          <a:p>
            <a:pPr algn="l"/>
            <a:r>
              <a:rPr sz="1300" b="1" i="0">
                <a:solidFill>
                  <a:srgbClr val="E76F51"/>
                </a:solidFill>
                <a:latin typeface="Cambria"/>
              </a:rPr>
              <a:t>I(q, Σ) = det(Σ) − det(Σ_new(q))</a:t>
            </a:r>
          </a:p>
        </p:txBody>
      </p:sp>
      <p:sp>
        <p:nvSpPr>
          <p:cNvPr id="20" name="TextBox 19"/>
          <p:cNvSpPr txBox="1"/>
          <p:nvPr/>
        </p:nvSpPr>
        <p:spPr>
          <a:xfrm>
            <a:off x="4069080" y="5212080"/>
            <a:ext cx="7955279" cy="786384"/>
          </a:xfrm>
          <a:prstGeom prst="rect">
            <a:avLst/>
          </a:prstGeom>
          <a:noFill/>
        </p:spPr>
        <p:txBody>
          <a:bodyPr wrap="square" lIns="0" rIns="0" tIns="0" bIns="0" anchor="ctr">
            <a:spAutoFit/>
          </a:bodyPr>
          <a:lstStyle/>
          <a:p>
            <a:pPr algn="l"/>
            <a:r>
              <a:rPr sz="1100" b="0" i="0">
                <a:solidFill>
                  <a:srgbClr val="1E293B"/>
                </a:solidFill>
                <a:latin typeface="Calibri"/>
              </a:rPr>
              <a:t>Expected reduction in total variance from a hypothetical observation at q. Simulated Kalman update: R_hyp(d) = σ²(d)·I (distance-dependent noise). Subtracted — high info gain lowers cost. Weight λ_i=2.0.</a:t>
            </a:r>
          </a:p>
        </p:txBody>
      </p:sp>
      <p:sp>
        <p:nvSpPr>
          <p:cNvPr id="21" name="TextBox 20"/>
          <p:cNvSpPr txBox="1"/>
          <p:nvPr/>
        </p:nvSpPr>
        <p:spPr>
          <a:xfrm>
            <a:off x="10515600" y="6446520"/>
            <a:ext cx="1463040" cy="274320"/>
          </a:xfrm>
          <a:prstGeom prst="rect">
            <a:avLst/>
          </a:prstGeom>
          <a:noFill/>
        </p:spPr>
        <p:txBody>
          <a:bodyPr wrap="square" lIns="0" rIns="0" tIns="0" bIns="0" anchor="t">
            <a:spAutoFit/>
          </a:bodyPr>
          <a:lstStyle/>
          <a:p>
            <a:pPr algn="r"/>
            <a:r>
              <a:rPr sz="900" b="0" i="1">
                <a:solidFill>
                  <a:srgbClr val="64748B"/>
                </a:solidFill>
                <a:latin typeface="Calibri"/>
              </a:rPr>
              <a:t>3:55 – 4:40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02920"/>
            <a:ext cx="91440" cy="566928"/>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411480"/>
            <a:ext cx="10515600" cy="777240"/>
          </a:xfrm>
          <a:prstGeom prst="rect">
            <a:avLst/>
          </a:prstGeom>
          <a:noFill/>
        </p:spPr>
        <p:txBody>
          <a:bodyPr wrap="square" lIns="0" rIns="0" tIns="0" bIns="0" anchor="ctr">
            <a:spAutoFit/>
          </a:bodyPr>
          <a:lstStyle/>
          <a:p>
            <a:pPr algn="l"/>
            <a:r>
              <a:rPr sz="3000" b="1" i="0">
                <a:solidFill>
                  <a:srgbClr val="0F3460"/>
                </a:solidFill>
                <a:latin typeface="Calibri"/>
              </a:rPr>
              <a:t>Goal belief: Kalman-style updates</a:t>
            </a:r>
          </a:p>
        </p:txBody>
      </p:sp>
      <p:sp>
        <p:nvSpPr>
          <p:cNvPr id="5" name="TextBox 4"/>
          <p:cNvSpPr txBox="1"/>
          <p:nvPr/>
        </p:nvSpPr>
        <p:spPr>
          <a:xfrm>
            <a:off x="10972800" y="502920"/>
            <a:ext cx="914400" cy="457200"/>
          </a:xfrm>
          <a:prstGeom prst="rect">
            <a:avLst/>
          </a:prstGeom>
          <a:noFill/>
        </p:spPr>
        <p:txBody>
          <a:bodyPr wrap="square" lIns="0" rIns="0" tIns="0" bIns="0" anchor="ctr">
            <a:spAutoFit/>
          </a:bodyPr>
          <a:lstStyle/>
          <a:p>
            <a:pPr algn="r"/>
            <a:r>
              <a:rPr sz="1000" b="0" i="0">
                <a:solidFill>
                  <a:srgbClr val="64748B"/>
                </a:solidFill>
                <a:latin typeface="Calibri"/>
              </a:rPr>
              <a:t>8 / 12</a:t>
            </a:r>
          </a:p>
        </p:txBody>
      </p:sp>
      <p:sp>
        <p:nvSpPr>
          <p:cNvPr id="6" name="TextBox 5"/>
          <p:cNvSpPr txBox="1"/>
          <p:nvPr/>
        </p:nvSpPr>
        <p:spPr>
          <a:xfrm>
            <a:off x="640080" y="1554480"/>
            <a:ext cx="5303520" cy="411480"/>
          </a:xfrm>
          <a:prstGeom prst="rect">
            <a:avLst/>
          </a:prstGeom>
          <a:noFill/>
        </p:spPr>
        <p:txBody>
          <a:bodyPr wrap="square" lIns="0" rIns="0" tIns="0" bIns="0" anchor="t">
            <a:spAutoFit/>
          </a:bodyPr>
          <a:lstStyle/>
          <a:p>
            <a:pPr algn="l"/>
            <a:r>
              <a:rPr sz="1600" b="1" i="0">
                <a:solidFill>
                  <a:srgbClr val="0F3460"/>
                </a:solidFill>
                <a:latin typeface="Cambria"/>
              </a:rPr>
              <a:t>State: b(q_goal) = N(μ, Σ)</a:t>
            </a:r>
          </a:p>
        </p:txBody>
      </p:sp>
      <p:sp>
        <p:nvSpPr>
          <p:cNvPr id="7" name="TextBox 6"/>
          <p:cNvSpPr txBox="1"/>
          <p:nvPr/>
        </p:nvSpPr>
        <p:spPr>
          <a:xfrm>
            <a:off x="640080" y="2103120"/>
            <a:ext cx="5303520" cy="4023360"/>
          </a:xfrm>
          <a:prstGeom prst="rect">
            <a:avLst/>
          </a:prstGeom>
          <a:noFill/>
        </p:spPr>
        <p:txBody>
          <a:bodyPr wrap="square" lIns="0" rIns="0" tIns="0" bIns="0">
            <a:spAutoFit/>
          </a:bodyPr>
          <a:lstStyle/>
          <a:p>
            <a:pPr algn="l">
              <a:spcAft>
                <a:spcPts val="1100"/>
              </a:spcAft>
            </a:pPr>
            <a:r>
              <a:rPr sz="1200" b="1">
                <a:solidFill>
                  <a:srgbClr val="00A896"/>
                </a:solidFill>
                <a:latin typeface="Calibri"/>
              </a:rPr>
              <a:t>▸  </a:t>
            </a:r>
            <a:r>
              <a:rPr sz="1200" b="0" i="0">
                <a:solidFill>
                  <a:srgbClr val="1E293B"/>
                </a:solidFill>
                <a:latin typeface="Calibri"/>
              </a:rPr>
              <a:t>Sensor model: z = d(q_t, q_goal) + ε,   ε ~ N(0, σ²(d))</a:t>
            </a:r>
          </a:p>
          <a:p>
            <a:pPr algn="l">
              <a:spcAft>
                <a:spcPts val="1100"/>
              </a:spcAft>
            </a:pPr>
            <a:r>
              <a:rPr sz="1200" b="1">
                <a:solidFill>
                  <a:srgbClr val="00A896"/>
                </a:solidFill>
                <a:latin typeface="Calibri"/>
              </a:rPr>
              <a:t>▸  </a:t>
            </a:r>
            <a:r>
              <a:rPr sz="1200" b="0" i="0">
                <a:solidFill>
                  <a:srgbClr val="1E293B"/>
                </a:solidFill>
                <a:latin typeface="Calibri"/>
              </a:rPr>
              <a:t>Noise scales with distance: σ²(d) = α·d + β — closer observations are more accurate</a:t>
            </a:r>
          </a:p>
          <a:p>
            <a:pPr algn="l">
              <a:spcAft>
                <a:spcPts val="1100"/>
              </a:spcAft>
            </a:pPr>
            <a:r>
              <a:rPr sz="1200" b="1">
                <a:solidFill>
                  <a:srgbClr val="00A896"/>
                </a:solidFill>
                <a:latin typeface="Calibri"/>
              </a:rPr>
              <a:t>▸  </a:t>
            </a:r>
            <a:r>
              <a:rPr sz="1200" b="0" i="0">
                <a:solidFill>
                  <a:srgbClr val="1E293B"/>
                </a:solidFill>
                <a:latin typeface="Calibri"/>
              </a:rPr>
              <a:t>Kalman update: μ ← μ + K(z − Hμ),  Σ ← (I − KH)Σ</a:t>
            </a:r>
          </a:p>
          <a:p>
            <a:pPr algn="l">
              <a:spcAft>
                <a:spcPts val="1100"/>
              </a:spcAft>
            </a:pPr>
            <a:r>
              <a:rPr sz="1200" b="1">
                <a:solidFill>
                  <a:srgbClr val="00A896"/>
                </a:solidFill>
                <a:latin typeface="Calibri"/>
              </a:rPr>
              <a:t>▸  </a:t>
            </a:r>
            <a:r>
              <a:rPr sz="1200" b="0" i="0">
                <a:solidFill>
                  <a:srgbClr val="1E293B"/>
                </a:solidFill>
                <a:latin typeface="Calibri"/>
              </a:rPr>
              <a:t>Gain K = ΣHᵀ(HΣHᵀ + R)⁻¹  where R = σ²(d)·I</a:t>
            </a:r>
          </a:p>
          <a:p>
            <a:pPr algn="l">
              <a:spcAft>
                <a:spcPts val="1100"/>
              </a:spcAft>
            </a:pPr>
            <a:r>
              <a:rPr sz="1200" b="1">
                <a:solidFill>
                  <a:srgbClr val="00A896"/>
                </a:solidFill>
                <a:latin typeface="Calibri"/>
              </a:rPr>
              <a:t>▸  </a:t>
            </a:r>
            <a:r>
              <a:rPr sz="1200" b="0" i="1">
                <a:solidFill>
                  <a:srgbClr val="0F3460"/>
                </a:solidFill>
                <a:latin typeface="Calibri"/>
              </a:rPr>
              <a:t>Monotonic covariance reduction: det(Σ) strictly decreasing with each observation</a:t>
            </a:r>
          </a:p>
          <a:p>
            <a:pPr algn="l">
              <a:spcAft>
                <a:spcPts val="1100"/>
              </a:spcAft>
            </a:pPr>
            <a:r>
              <a:rPr sz="1200" b="1">
                <a:solidFill>
                  <a:srgbClr val="00A896"/>
                </a:solidFill>
                <a:latin typeface="Calibri"/>
              </a:rPr>
              <a:t>▸  </a:t>
            </a:r>
            <a:r>
              <a:rPr sz="1200" b="0" i="1">
                <a:solidFill>
                  <a:srgbClr val="00A896"/>
                </a:solidFill>
                <a:latin typeface="Calibri"/>
              </a:rPr>
              <a:t>Module is fully decoupled — drops into any planner that needs localization-while-planning</a:t>
            </a:r>
          </a:p>
        </p:txBody>
      </p:sp>
      <p:pic>
        <p:nvPicPr>
          <p:cNvPr id="8" name="Picture 7" descr="belief_convergence.png"/>
          <p:cNvPicPr>
            <a:picLocks noChangeAspect="1"/>
          </p:cNvPicPr>
          <p:nvPr/>
        </p:nvPicPr>
        <p:blipFill>
          <a:blip r:embed="rId2"/>
          <a:stretch>
            <a:fillRect/>
          </a:stretch>
        </p:blipFill>
        <p:spPr>
          <a:xfrm>
            <a:off x="6400800" y="1554480"/>
            <a:ext cx="5212080" cy="4114800"/>
          </a:xfrm>
          <a:prstGeom prst="rect">
            <a:avLst/>
          </a:prstGeom>
        </p:spPr>
      </p:pic>
      <p:sp>
        <p:nvSpPr>
          <p:cNvPr id="9" name="TextBox 8"/>
          <p:cNvSpPr txBox="1"/>
          <p:nvPr/>
        </p:nvSpPr>
        <p:spPr>
          <a:xfrm>
            <a:off x="6400800" y="5715000"/>
            <a:ext cx="5212080" cy="274320"/>
          </a:xfrm>
          <a:prstGeom prst="rect">
            <a:avLst/>
          </a:prstGeom>
          <a:noFill/>
        </p:spPr>
        <p:txBody>
          <a:bodyPr wrap="square" lIns="0" rIns="0" tIns="0" bIns="0" anchor="t">
            <a:spAutoFit/>
          </a:bodyPr>
          <a:lstStyle/>
          <a:p>
            <a:pPr algn="ctr"/>
            <a:r>
              <a:rPr sz="1000" b="0" i="1">
                <a:solidFill>
                  <a:srgbClr val="64748B"/>
                </a:solidFill>
                <a:latin typeface="Calibri"/>
              </a:rPr>
              <a:t>Posterior covariance converging across all 90 MCMC-agent trials</a:t>
            </a:r>
          </a:p>
        </p:txBody>
      </p:sp>
      <p:sp>
        <p:nvSpPr>
          <p:cNvPr id="10" name="TextBox 9"/>
          <p:cNvSpPr txBox="1"/>
          <p:nvPr/>
        </p:nvSpPr>
        <p:spPr>
          <a:xfrm>
            <a:off x="10515600" y="6446520"/>
            <a:ext cx="1463040" cy="274320"/>
          </a:xfrm>
          <a:prstGeom prst="rect">
            <a:avLst/>
          </a:prstGeom>
          <a:noFill/>
        </p:spPr>
        <p:txBody>
          <a:bodyPr wrap="square" lIns="0" rIns="0" tIns="0" bIns="0" anchor="t">
            <a:spAutoFit/>
          </a:bodyPr>
          <a:lstStyle/>
          <a:p>
            <a:pPr algn="r"/>
            <a:r>
              <a:rPr sz="900" b="0" i="1">
                <a:solidFill>
                  <a:srgbClr val="64748B"/>
                </a:solidFill>
                <a:latin typeface="Calibri"/>
              </a:rPr>
              <a:t>4:40 – 5:15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02920"/>
            <a:ext cx="91440" cy="566928"/>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411480"/>
            <a:ext cx="10515600" cy="777240"/>
          </a:xfrm>
          <a:prstGeom prst="rect">
            <a:avLst/>
          </a:prstGeom>
          <a:noFill/>
        </p:spPr>
        <p:txBody>
          <a:bodyPr wrap="square" lIns="0" rIns="0" tIns="0" bIns="0" anchor="ctr">
            <a:spAutoFit/>
          </a:bodyPr>
          <a:lstStyle/>
          <a:p>
            <a:pPr algn="l"/>
            <a:r>
              <a:rPr sz="3000" b="1" i="0">
                <a:solidFill>
                  <a:srgbClr val="0F3460"/>
                </a:solidFill>
                <a:latin typeface="Calibri"/>
              </a:rPr>
              <a:t>Receding horizon execution</a:t>
            </a:r>
          </a:p>
        </p:txBody>
      </p:sp>
      <p:sp>
        <p:nvSpPr>
          <p:cNvPr id="5" name="TextBox 4"/>
          <p:cNvSpPr txBox="1"/>
          <p:nvPr/>
        </p:nvSpPr>
        <p:spPr>
          <a:xfrm>
            <a:off x="10972800" y="502920"/>
            <a:ext cx="914400" cy="457200"/>
          </a:xfrm>
          <a:prstGeom prst="rect">
            <a:avLst/>
          </a:prstGeom>
          <a:noFill/>
        </p:spPr>
        <p:txBody>
          <a:bodyPr wrap="square" lIns="0" rIns="0" tIns="0" bIns="0" anchor="ctr">
            <a:spAutoFit/>
          </a:bodyPr>
          <a:lstStyle/>
          <a:p>
            <a:pPr algn="r"/>
            <a:r>
              <a:rPr sz="1000" b="0" i="0">
                <a:solidFill>
                  <a:srgbClr val="64748B"/>
                </a:solidFill>
                <a:latin typeface="Calibri"/>
              </a:rPr>
              <a:t>9 / 12</a:t>
            </a:r>
          </a:p>
        </p:txBody>
      </p:sp>
      <p:sp>
        <p:nvSpPr>
          <p:cNvPr id="6" name="TextBox 5"/>
          <p:cNvSpPr txBox="1"/>
          <p:nvPr/>
        </p:nvSpPr>
        <p:spPr>
          <a:xfrm>
            <a:off x="640080" y="1554480"/>
            <a:ext cx="5486400" cy="4023360"/>
          </a:xfrm>
          <a:prstGeom prst="rect">
            <a:avLst/>
          </a:prstGeom>
          <a:noFill/>
        </p:spPr>
        <p:txBody>
          <a:bodyPr wrap="square" lIns="0" rIns="0" tIns="0" bIns="0">
            <a:spAutoFit/>
          </a:bodyPr>
          <a:lstStyle/>
          <a:p>
            <a:pPr algn="l">
              <a:spcAft>
                <a:spcPts val="1300"/>
              </a:spcAft>
            </a:pPr>
            <a:r>
              <a:rPr sz="1300" b="1">
                <a:solidFill>
                  <a:srgbClr val="00A896"/>
                </a:solidFill>
                <a:latin typeface="Calibri"/>
              </a:rPr>
              <a:t>▸  </a:t>
            </a:r>
            <a:r>
              <a:rPr sz="1300" b="0" i="0">
                <a:solidFill>
                  <a:srgbClr val="1E293B"/>
                </a:solidFill>
                <a:latin typeface="Calibri"/>
              </a:rPr>
              <a:t>Plan under current belief N(μ, Σ) to produce a waypoint sequence</a:t>
            </a:r>
          </a:p>
          <a:p>
            <a:pPr algn="l">
              <a:spcAft>
                <a:spcPts val="1300"/>
              </a:spcAft>
            </a:pPr>
            <a:r>
              <a:rPr sz="1300" b="1">
                <a:solidFill>
                  <a:srgbClr val="00A896"/>
                </a:solidFill>
                <a:latin typeface="Calibri"/>
              </a:rPr>
              <a:t>▸  </a:t>
            </a:r>
            <a:r>
              <a:rPr sz="1300" b="0" i="0">
                <a:solidFill>
                  <a:srgbClr val="1E293B"/>
                </a:solidFill>
                <a:latin typeface="Calibri"/>
              </a:rPr>
              <a:t>Execute the first k waypoints while accumulating new sensor observations</a:t>
            </a:r>
          </a:p>
          <a:p>
            <a:pPr algn="l">
              <a:spcAft>
                <a:spcPts val="1300"/>
              </a:spcAft>
            </a:pPr>
            <a:r>
              <a:rPr sz="1300" b="1">
                <a:solidFill>
                  <a:srgbClr val="00A896"/>
                </a:solidFill>
                <a:latin typeface="Calibri"/>
              </a:rPr>
              <a:t>▸  </a:t>
            </a:r>
            <a:r>
              <a:rPr sz="1300" b="0" i="0">
                <a:solidFill>
                  <a:srgbClr val="1E293B"/>
                </a:solidFill>
                <a:latin typeface="Calibri"/>
              </a:rPr>
              <a:t>Replan trigger: when H(b) = −Σ p_i log p_i drops by more than ΔH_thresh</a:t>
            </a:r>
          </a:p>
          <a:p>
            <a:pPr algn="l">
              <a:spcAft>
                <a:spcPts val="1300"/>
              </a:spcAft>
            </a:pPr>
            <a:r>
              <a:rPr sz="1300" b="1">
                <a:solidFill>
                  <a:srgbClr val="00A896"/>
                </a:solidFill>
                <a:latin typeface="Calibri"/>
              </a:rPr>
              <a:t>▸  </a:t>
            </a:r>
            <a:r>
              <a:rPr sz="1300" b="0" i="1">
                <a:solidFill>
                  <a:srgbClr val="0F3460"/>
                </a:solidFill>
                <a:latin typeface="Calibri"/>
              </a:rPr>
              <a:t>Not every step — avoids redundant re-computation when belief is stable</a:t>
            </a:r>
          </a:p>
          <a:p>
            <a:pPr algn="l">
              <a:spcAft>
                <a:spcPts val="1300"/>
              </a:spcAft>
            </a:pPr>
            <a:r>
              <a:rPr sz="1300" b="1">
                <a:solidFill>
                  <a:srgbClr val="00A896"/>
                </a:solidFill>
                <a:latin typeface="Calibri"/>
              </a:rPr>
              <a:t>▸  </a:t>
            </a:r>
            <a:r>
              <a:rPr sz="1300" b="1" i="0">
                <a:solidFill>
                  <a:srgbClr val="00A896"/>
                </a:solidFill>
                <a:latin typeface="Calibri"/>
              </a:rPr>
              <a:t>More replans at higher difficulty: ~5.6 (easy) → 8.4 (medium) → 13.6 (hard)</a:t>
            </a:r>
          </a:p>
        </p:txBody>
      </p:sp>
      <p:pic>
        <p:nvPicPr>
          <p:cNvPr id="7" name="Picture 6" descr="replans_by_complexity.png"/>
          <p:cNvPicPr>
            <a:picLocks noChangeAspect="1"/>
          </p:cNvPicPr>
          <p:nvPr/>
        </p:nvPicPr>
        <p:blipFill>
          <a:blip r:embed="rId2"/>
          <a:stretch>
            <a:fillRect/>
          </a:stretch>
        </p:blipFill>
        <p:spPr>
          <a:xfrm>
            <a:off x="6400800" y="1554480"/>
            <a:ext cx="5212080" cy="4114800"/>
          </a:xfrm>
          <a:prstGeom prst="rect">
            <a:avLst/>
          </a:prstGeom>
        </p:spPr>
      </p:pic>
      <p:sp>
        <p:nvSpPr>
          <p:cNvPr id="8" name="TextBox 7"/>
          <p:cNvSpPr txBox="1"/>
          <p:nvPr/>
        </p:nvSpPr>
        <p:spPr>
          <a:xfrm>
            <a:off x="6400800" y="5715000"/>
            <a:ext cx="5212080" cy="274320"/>
          </a:xfrm>
          <a:prstGeom prst="rect">
            <a:avLst/>
          </a:prstGeom>
          <a:noFill/>
        </p:spPr>
        <p:txBody>
          <a:bodyPr wrap="square" lIns="0" rIns="0" tIns="0" bIns="0" anchor="t">
            <a:spAutoFit/>
          </a:bodyPr>
          <a:lstStyle/>
          <a:p>
            <a:pPr algn="ctr"/>
            <a:r>
              <a:rPr sz="1000" b="0" i="1">
                <a:solidFill>
                  <a:srgbClr val="64748B"/>
                </a:solidFill>
                <a:latin typeface="Calibri"/>
              </a:rPr>
              <a:t>Average replanning events per trial (MCMC agent only)</a:t>
            </a:r>
          </a:p>
        </p:txBody>
      </p:sp>
      <p:sp>
        <p:nvSpPr>
          <p:cNvPr id="9" name="TextBox 8"/>
          <p:cNvSpPr txBox="1"/>
          <p:nvPr/>
        </p:nvSpPr>
        <p:spPr>
          <a:xfrm>
            <a:off x="10515600" y="6446520"/>
            <a:ext cx="1463040" cy="274320"/>
          </a:xfrm>
          <a:prstGeom prst="rect">
            <a:avLst/>
          </a:prstGeom>
          <a:noFill/>
        </p:spPr>
        <p:txBody>
          <a:bodyPr wrap="square" lIns="0" rIns="0" tIns="0" bIns="0" anchor="t">
            <a:spAutoFit/>
          </a:bodyPr>
          <a:lstStyle/>
          <a:p>
            <a:pPr algn="r"/>
            <a:r>
              <a:rPr sz="900" b="0" i="1">
                <a:solidFill>
                  <a:srgbClr val="64748B"/>
                </a:solidFill>
                <a:latin typeface="Calibri"/>
              </a:rPr>
              <a:t>5:15 – 5:50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02920"/>
            <a:ext cx="91440" cy="566928"/>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411480"/>
            <a:ext cx="10515600" cy="777240"/>
          </a:xfrm>
          <a:prstGeom prst="rect">
            <a:avLst/>
          </a:prstGeom>
          <a:noFill/>
        </p:spPr>
        <p:txBody>
          <a:bodyPr wrap="square" lIns="0" rIns="0" tIns="0" bIns="0" anchor="ctr">
            <a:spAutoFit/>
          </a:bodyPr>
          <a:lstStyle/>
          <a:p>
            <a:pPr algn="l"/>
            <a:r>
              <a:rPr sz="3000" b="1" i="0">
                <a:solidFill>
                  <a:srgbClr val="0F3460"/>
                </a:solidFill>
                <a:latin typeface="Calibri"/>
              </a:rPr>
              <a:t>Empirical evaluation: 180 trials</a:t>
            </a:r>
          </a:p>
        </p:txBody>
      </p:sp>
      <p:sp>
        <p:nvSpPr>
          <p:cNvPr id="5" name="TextBox 4"/>
          <p:cNvSpPr txBox="1"/>
          <p:nvPr/>
        </p:nvSpPr>
        <p:spPr>
          <a:xfrm>
            <a:off x="10972800" y="502920"/>
            <a:ext cx="914400" cy="457200"/>
          </a:xfrm>
          <a:prstGeom prst="rect">
            <a:avLst/>
          </a:prstGeom>
          <a:noFill/>
        </p:spPr>
        <p:txBody>
          <a:bodyPr wrap="square" lIns="0" rIns="0" tIns="0" bIns="0" anchor="ctr">
            <a:spAutoFit/>
          </a:bodyPr>
          <a:lstStyle/>
          <a:p>
            <a:pPr algn="r"/>
            <a:r>
              <a:rPr sz="1000" b="0" i="0">
                <a:solidFill>
                  <a:srgbClr val="64748B"/>
                </a:solidFill>
                <a:latin typeface="Calibri"/>
              </a:rPr>
              <a:t>10 / 12</a:t>
            </a:r>
          </a:p>
        </p:txBody>
      </p:sp>
      <p:sp>
        <p:nvSpPr>
          <p:cNvPr id="6" name="Rounded Rectangle 5"/>
          <p:cNvSpPr/>
          <p:nvPr/>
        </p:nvSpPr>
        <p:spPr>
          <a:xfrm>
            <a:off x="595731" y="1417320"/>
            <a:ext cx="2606040" cy="777240"/>
          </a:xfrm>
          <a:prstGeom prst="round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5731" y="1463040"/>
            <a:ext cx="777240" cy="685800"/>
          </a:xfrm>
          <a:prstGeom prst="rect">
            <a:avLst/>
          </a:prstGeom>
          <a:noFill/>
        </p:spPr>
        <p:txBody>
          <a:bodyPr wrap="square" lIns="0" rIns="0" tIns="0" bIns="0" anchor="ctr">
            <a:spAutoFit/>
          </a:bodyPr>
          <a:lstStyle/>
          <a:p>
            <a:pPr algn="ctr"/>
            <a:r>
              <a:rPr sz="3000" b="1" i="0">
                <a:solidFill>
                  <a:srgbClr val="0F3460"/>
                </a:solidFill>
                <a:latin typeface="Calibri"/>
              </a:rPr>
              <a:t>180</a:t>
            </a:r>
          </a:p>
        </p:txBody>
      </p:sp>
      <p:sp>
        <p:nvSpPr>
          <p:cNvPr id="8" name="TextBox 7"/>
          <p:cNvSpPr txBox="1"/>
          <p:nvPr/>
        </p:nvSpPr>
        <p:spPr>
          <a:xfrm>
            <a:off x="1372971" y="1463040"/>
            <a:ext cx="1737360" cy="685800"/>
          </a:xfrm>
          <a:prstGeom prst="rect">
            <a:avLst/>
          </a:prstGeom>
          <a:noFill/>
        </p:spPr>
        <p:txBody>
          <a:bodyPr wrap="square" lIns="0" rIns="0" tIns="0" bIns="0" anchor="ctr">
            <a:spAutoFit/>
          </a:bodyPr>
          <a:lstStyle/>
          <a:p>
            <a:pPr algn="l"/>
            <a:r>
              <a:rPr sz="1000" b="0" i="0">
                <a:solidFill>
                  <a:srgbClr val="1E293B"/>
                </a:solidFill>
                <a:latin typeface="Calibri"/>
              </a:rPr>
              <a:t>trials total
(30 per cell)</a:t>
            </a:r>
          </a:p>
        </p:txBody>
      </p:sp>
      <p:sp>
        <p:nvSpPr>
          <p:cNvPr id="9" name="Rounded Rectangle 8"/>
          <p:cNvSpPr/>
          <p:nvPr/>
        </p:nvSpPr>
        <p:spPr>
          <a:xfrm>
            <a:off x="3393795" y="1417320"/>
            <a:ext cx="2606040" cy="777240"/>
          </a:xfrm>
          <a:prstGeom prst="round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93795" y="1463040"/>
            <a:ext cx="777240" cy="685800"/>
          </a:xfrm>
          <a:prstGeom prst="rect">
            <a:avLst/>
          </a:prstGeom>
          <a:noFill/>
        </p:spPr>
        <p:txBody>
          <a:bodyPr wrap="square" lIns="0" rIns="0" tIns="0" bIns="0" anchor="ctr">
            <a:spAutoFit/>
          </a:bodyPr>
          <a:lstStyle/>
          <a:p>
            <a:pPr algn="ctr"/>
            <a:r>
              <a:rPr sz="3000" b="1" i="0">
                <a:solidFill>
                  <a:srgbClr val="00A896"/>
                </a:solidFill>
                <a:latin typeface="Calibri"/>
              </a:rPr>
              <a:t>3</a:t>
            </a:r>
          </a:p>
        </p:txBody>
      </p:sp>
      <p:sp>
        <p:nvSpPr>
          <p:cNvPr id="11" name="TextBox 10"/>
          <p:cNvSpPr txBox="1"/>
          <p:nvPr/>
        </p:nvSpPr>
        <p:spPr>
          <a:xfrm>
            <a:off x="4171035" y="1463040"/>
            <a:ext cx="1737360" cy="685800"/>
          </a:xfrm>
          <a:prstGeom prst="rect">
            <a:avLst/>
          </a:prstGeom>
          <a:noFill/>
        </p:spPr>
        <p:txBody>
          <a:bodyPr wrap="square" lIns="0" rIns="0" tIns="0" bIns="0" anchor="ctr">
            <a:spAutoFit/>
          </a:bodyPr>
          <a:lstStyle/>
          <a:p>
            <a:pPr algn="l"/>
            <a:r>
              <a:rPr sz="1000" b="0" i="0">
                <a:solidFill>
                  <a:srgbClr val="1E293B"/>
                </a:solidFill>
                <a:latin typeface="Calibri"/>
              </a:rPr>
              <a:t>difficulty levels
(easy / medium / hard)</a:t>
            </a:r>
          </a:p>
        </p:txBody>
      </p:sp>
      <p:sp>
        <p:nvSpPr>
          <p:cNvPr id="12" name="Rounded Rectangle 11"/>
          <p:cNvSpPr/>
          <p:nvPr/>
        </p:nvSpPr>
        <p:spPr>
          <a:xfrm>
            <a:off x="6191859" y="1417320"/>
            <a:ext cx="2606040" cy="777240"/>
          </a:xfrm>
          <a:prstGeom prst="round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91859" y="1463040"/>
            <a:ext cx="777240" cy="685800"/>
          </a:xfrm>
          <a:prstGeom prst="rect">
            <a:avLst/>
          </a:prstGeom>
          <a:noFill/>
        </p:spPr>
        <p:txBody>
          <a:bodyPr wrap="square" lIns="0" rIns="0" tIns="0" bIns="0" anchor="ctr">
            <a:spAutoFit/>
          </a:bodyPr>
          <a:lstStyle/>
          <a:p>
            <a:pPr algn="ctr"/>
            <a:r>
              <a:rPr sz="3000" b="1" i="0">
                <a:solidFill>
                  <a:srgbClr val="E76F51"/>
                </a:solidFill>
                <a:latin typeface="Calibri"/>
              </a:rPr>
              <a:t>2</a:t>
            </a:r>
          </a:p>
        </p:txBody>
      </p:sp>
      <p:sp>
        <p:nvSpPr>
          <p:cNvPr id="14" name="TextBox 13"/>
          <p:cNvSpPr txBox="1"/>
          <p:nvPr/>
        </p:nvSpPr>
        <p:spPr>
          <a:xfrm>
            <a:off x="6969099" y="1463040"/>
            <a:ext cx="1737360" cy="685800"/>
          </a:xfrm>
          <a:prstGeom prst="rect">
            <a:avLst/>
          </a:prstGeom>
          <a:noFill/>
        </p:spPr>
        <p:txBody>
          <a:bodyPr wrap="square" lIns="0" rIns="0" tIns="0" bIns="0" anchor="ctr">
            <a:spAutoFit/>
          </a:bodyPr>
          <a:lstStyle/>
          <a:p>
            <a:pPr algn="l"/>
            <a:r>
              <a:rPr sz="1000" b="0" i="0">
                <a:solidFill>
                  <a:srgbClr val="1E293B"/>
                </a:solidFill>
                <a:latin typeface="Calibri"/>
              </a:rPr>
              <a:t>agents compared
(MCMC vs uniform RRT)</a:t>
            </a:r>
          </a:p>
        </p:txBody>
      </p:sp>
      <p:sp>
        <p:nvSpPr>
          <p:cNvPr id="15" name="Rounded Rectangle 14"/>
          <p:cNvSpPr/>
          <p:nvPr/>
        </p:nvSpPr>
        <p:spPr>
          <a:xfrm>
            <a:off x="8989923" y="1417320"/>
            <a:ext cx="2606040" cy="777240"/>
          </a:xfrm>
          <a:prstGeom prst="round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89923" y="1463040"/>
            <a:ext cx="777240" cy="685800"/>
          </a:xfrm>
          <a:prstGeom prst="rect">
            <a:avLst/>
          </a:prstGeom>
          <a:noFill/>
        </p:spPr>
        <p:txBody>
          <a:bodyPr wrap="square" lIns="0" rIns="0" tIns="0" bIns="0" anchor="ctr">
            <a:spAutoFit/>
          </a:bodyPr>
          <a:lstStyle/>
          <a:p>
            <a:pPr algn="ctr"/>
            <a:r>
              <a:rPr sz="3000" b="1" i="0">
                <a:solidFill>
                  <a:srgbClr val="0F3460"/>
                </a:solidFill>
                <a:latin typeface="Calibri"/>
              </a:rPr>
              <a:t>4</a:t>
            </a:r>
          </a:p>
        </p:txBody>
      </p:sp>
      <p:sp>
        <p:nvSpPr>
          <p:cNvPr id="17" name="TextBox 16"/>
          <p:cNvSpPr txBox="1"/>
          <p:nvPr/>
        </p:nvSpPr>
        <p:spPr>
          <a:xfrm>
            <a:off x="9767163" y="1463040"/>
            <a:ext cx="1737360" cy="685800"/>
          </a:xfrm>
          <a:prstGeom prst="rect">
            <a:avLst/>
          </a:prstGeom>
          <a:noFill/>
        </p:spPr>
        <p:txBody>
          <a:bodyPr wrap="square" lIns="0" rIns="0" tIns="0" bIns="0" anchor="ctr">
            <a:spAutoFit/>
          </a:bodyPr>
          <a:lstStyle/>
          <a:p>
            <a:pPr algn="l"/>
            <a:r>
              <a:rPr sz="1000" b="0" i="0">
                <a:solidFill>
                  <a:srgbClr val="1E293B"/>
                </a:solidFill>
                <a:latin typeface="Calibri"/>
              </a:rPr>
              <a:t>metrics per trial
(success, time, path ℓ, replans)</a:t>
            </a:r>
          </a:p>
        </p:txBody>
      </p:sp>
      <p:pic>
        <p:nvPicPr>
          <p:cNvPr id="18" name="Picture 17" descr="success_rates.png"/>
          <p:cNvPicPr>
            <a:picLocks noChangeAspect="1"/>
          </p:cNvPicPr>
          <p:nvPr/>
        </p:nvPicPr>
        <p:blipFill>
          <a:blip r:embed="rId2"/>
          <a:stretch>
            <a:fillRect/>
          </a:stretch>
        </p:blipFill>
        <p:spPr>
          <a:xfrm>
            <a:off x="640080" y="2468880"/>
            <a:ext cx="5486400" cy="3200400"/>
          </a:xfrm>
          <a:prstGeom prst="rect">
            <a:avLst/>
          </a:prstGeom>
        </p:spPr>
      </p:pic>
      <p:pic>
        <p:nvPicPr>
          <p:cNvPr id="19" name="Picture 18" descr="computation_time.png"/>
          <p:cNvPicPr>
            <a:picLocks noChangeAspect="1"/>
          </p:cNvPicPr>
          <p:nvPr/>
        </p:nvPicPr>
        <p:blipFill>
          <a:blip r:embed="rId3"/>
          <a:stretch>
            <a:fillRect/>
          </a:stretch>
        </p:blipFill>
        <p:spPr>
          <a:xfrm>
            <a:off x="6263640" y="2468880"/>
            <a:ext cx="5486400" cy="3200400"/>
          </a:xfrm>
          <a:prstGeom prst="rect">
            <a:avLst/>
          </a:prstGeom>
        </p:spPr>
      </p:pic>
      <p:sp>
        <p:nvSpPr>
          <p:cNvPr id="20" name="TextBox 19"/>
          <p:cNvSpPr txBox="1"/>
          <p:nvPr/>
        </p:nvSpPr>
        <p:spPr>
          <a:xfrm>
            <a:off x="640080" y="5806440"/>
            <a:ext cx="10908792" cy="411480"/>
          </a:xfrm>
          <a:prstGeom prst="rect">
            <a:avLst/>
          </a:prstGeom>
          <a:noFill/>
        </p:spPr>
        <p:txBody>
          <a:bodyPr wrap="square" lIns="0" rIns="0" tIns="0" bIns="0" anchor="t">
            <a:spAutoFit/>
          </a:bodyPr>
          <a:lstStyle/>
          <a:p>
            <a:pPr algn="ctr"/>
            <a:r>
              <a:rPr sz="1200" b="1" i="0">
                <a:solidFill>
                  <a:srgbClr val="E76F51"/>
                </a:solidFill>
                <a:latin typeface="Calibri"/>
              </a:rPr>
              <a:t>Hard mazes: MCMC 63% success vs baseline 93%  ·  8–22× slower across all difficulties  ·  shorter paths when MCMC succeeds (Mann-Whitney p&lt;0.05)</a:t>
            </a:r>
          </a:p>
        </p:txBody>
      </p:sp>
      <p:sp>
        <p:nvSpPr>
          <p:cNvPr id="21" name="TextBox 20"/>
          <p:cNvSpPr txBox="1"/>
          <p:nvPr/>
        </p:nvSpPr>
        <p:spPr>
          <a:xfrm>
            <a:off x="10515600" y="6446520"/>
            <a:ext cx="1463040" cy="274320"/>
          </a:xfrm>
          <a:prstGeom prst="rect">
            <a:avLst/>
          </a:prstGeom>
          <a:noFill/>
        </p:spPr>
        <p:txBody>
          <a:bodyPr wrap="square" lIns="0" rIns="0" tIns="0" bIns="0" anchor="t">
            <a:spAutoFit/>
          </a:bodyPr>
          <a:lstStyle/>
          <a:p>
            <a:pPr algn="r"/>
            <a:r>
              <a:rPr sz="900" b="0" i="1">
                <a:solidFill>
                  <a:srgbClr val="64748B"/>
                </a:solidFill>
                <a:latin typeface="Calibri"/>
              </a:rPr>
              <a:t>5:50 – 6:30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02920"/>
            <a:ext cx="91440" cy="566928"/>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411480"/>
            <a:ext cx="10515600" cy="777240"/>
          </a:xfrm>
          <a:prstGeom prst="rect">
            <a:avLst/>
          </a:prstGeom>
          <a:noFill/>
        </p:spPr>
        <p:txBody>
          <a:bodyPr wrap="square" lIns="0" rIns="0" tIns="0" bIns="0" anchor="ctr">
            <a:spAutoFit/>
          </a:bodyPr>
          <a:lstStyle/>
          <a:p>
            <a:pPr algn="l"/>
            <a:r>
              <a:rPr sz="3000" b="1" i="0">
                <a:solidFill>
                  <a:srgbClr val="0F3460"/>
                </a:solidFill>
                <a:latin typeface="Calibri"/>
              </a:rPr>
              <a:t>What we learned</a:t>
            </a:r>
          </a:p>
        </p:txBody>
      </p:sp>
      <p:sp>
        <p:nvSpPr>
          <p:cNvPr id="5" name="TextBox 4"/>
          <p:cNvSpPr txBox="1"/>
          <p:nvPr/>
        </p:nvSpPr>
        <p:spPr>
          <a:xfrm>
            <a:off x="10972800" y="502920"/>
            <a:ext cx="914400" cy="457200"/>
          </a:xfrm>
          <a:prstGeom prst="rect">
            <a:avLst/>
          </a:prstGeom>
          <a:noFill/>
        </p:spPr>
        <p:txBody>
          <a:bodyPr wrap="square" lIns="0" rIns="0" tIns="0" bIns="0" anchor="ctr">
            <a:spAutoFit/>
          </a:bodyPr>
          <a:lstStyle/>
          <a:p>
            <a:pPr algn="r"/>
            <a:r>
              <a:rPr sz="1000" b="0" i="0">
                <a:solidFill>
                  <a:srgbClr val="64748B"/>
                </a:solidFill>
                <a:latin typeface="Calibri"/>
              </a:rPr>
              <a:t>11 / 12</a:t>
            </a:r>
          </a:p>
        </p:txBody>
      </p:sp>
      <p:sp>
        <p:nvSpPr>
          <p:cNvPr id="6" name="TextBox 5"/>
          <p:cNvSpPr txBox="1"/>
          <p:nvPr/>
        </p:nvSpPr>
        <p:spPr>
          <a:xfrm>
            <a:off x="640080" y="1481328"/>
            <a:ext cx="5303520" cy="384048"/>
          </a:xfrm>
          <a:prstGeom prst="rect">
            <a:avLst/>
          </a:prstGeom>
          <a:noFill/>
        </p:spPr>
        <p:txBody>
          <a:bodyPr wrap="square" lIns="0" rIns="0" tIns="0" bIns="0" anchor="t">
            <a:spAutoFit/>
          </a:bodyPr>
          <a:lstStyle/>
          <a:p>
            <a:pPr algn="l"/>
            <a:r>
              <a:rPr sz="1700" b="1" i="0">
                <a:solidFill>
                  <a:srgbClr val="00A896"/>
                </a:solidFill>
                <a:latin typeface="Calibri"/>
              </a:rPr>
              <a:t>What worked</a:t>
            </a:r>
          </a:p>
        </p:txBody>
      </p:sp>
      <p:sp>
        <p:nvSpPr>
          <p:cNvPr id="7" name="TextBox 6"/>
          <p:cNvSpPr txBox="1"/>
          <p:nvPr/>
        </p:nvSpPr>
        <p:spPr>
          <a:xfrm>
            <a:off x="640080" y="1965960"/>
            <a:ext cx="5303520" cy="2606040"/>
          </a:xfrm>
          <a:prstGeom prst="rect">
            <a:avLst/>
          </a:prstGeom>
          <a:noFill/>
        </p:spPr>
        <p:txBody>
          <a:bodyPr wrap="square" lIns="0" rIns="0" tIns="0" bIns="0">
            <a:spAutoFit/>
          </a:bodyPr>
          <a:lstStyle/>
          <a:p>
            <a:pPr algn="l">
              <a:spcAft>
                <a:spcPts val="1100"/>
              </a:spcAft>
            </a:pPr>
            <a:r>
              <a:rPr sz="1200" b="1">
                <a:solidFill>
                  <a:srgbClr val="00A896"/>
                </a:solidFill>
                <a:latin typeface="Calibri"/>
              </a:rPr>
              <a:t>▸  </a:t>
            </a:r>
            <a:r>
              <a:rPr sz="1200" b="0" i="0">
                <a:solidFill>
                  <a:srgbClr val="1E293B"/>
                </a:solidFill>
                <a:latin typeface="Calibri"/>
              </a:rPr>
              <a:t>MCMC agent finds shorter paths when it succeeds (significant at easy/medium; Cohen’s d ≈ 0.4–0.6)</a:t>
            </a:r>
          </a:p>
          <a:p>
            <a:pPr algn="l">
              <a:spcAft>
                <a:spcPts val="1100"/>
              </a:spcAft>
            </a:pPr>
            <a:r>
              <a:rPr sz="1200" b="1">
                <a:solidFill>
                  <a:srgbClr val="00A896"/>
                </a:solidFill>
                <a:latin typeface="Calibri"/>
              </a:rPr>
              <a:t>▸  </a:t>
            </a:r>
            <a:r>
              <a:rPr sz="1200" b="0" i="0">
                <a:solidFill>
                  <a:srgbClr val="1E293B"/>
                </a:solidFill>
                <a:latin typeface="Calibri"/>
              </a:rPr>
              <a:t>Goal-belief integration converges reliably — det(Σ) monotonically decreasing across all 90 MCMC trials</a:t>
            </a:r>
          </a:p>
          <a:p>
            <a:pPr algn="l">
              <a:spcAft>
                <a:spcPts val="1100"/>
              </a:spcAft>
            </a:pPr>
            <a:r>
              <a:rPr sz="1200" b="1">
                <a:solidFill>
                  <a:srgbClr val="00A896"/>
                </a:solidFill>
                <a:latin typeface="Calibri"/>
              </a:rPr>
              <a:t>▸  </a:t>
            </a:r>
            <a:r>
              <a:rPr sz="1200" b="0" i="0">
                <a:solidFill>
                  <a:srgbClr val="1E293B"/>
                </a:solidFill>
                <a:latin typeface="Calibri"/>
              </a:rPr>
              <a:t>Lambda biasing prevents the worst local-minimum failures seen in pure MCMC runs</a:t>
            </a:r>
          </a:p>
          <a:p>
            <a:pPr algn="l">
              <a:spcAft>
                <a:spcPts val="1100"/>
              </a:spcAft>
            </a:pPr>
            <a:r>
              <a:rPr sz="1200" b="1">
                <a:solidFill>
                  <a:srgbClr val="00A896"/>
                </a:solidFill>
                <a:latin typeface="Calibri"/>
              </a:rPr>
              <a:t>▸  </a:t>
            </a:r>
            <a:r>
              <a:rPr sz="1200" b="0" i="0">
                <a:solidFill>
                  <a:srgbClr val="1E293B"/>
                </a:solidFill>
                <a:latin typeface="Calibri"/>
              </a:rPr>
              <a:t>Information-aware sampling guides the tree toward regions that also reduce goal uncertainty</a:t>
            </a:r>
          </a:p>
        </p:txBody>
      </p:sp>
      <p:sp>
        <p:nvSpPr>
          <p:cNvPr id="8" name="TextBox 7"/>
          <p:cNvSpPr txBox="1"/>
          <p:nvPr/>
        </p:nvSpPr>
        <p:spPr>
          <a:xfrm>
            <a:off x="640080" y="4663440"/>
            <a:ext cx="5303520" cy="384048"/>
          </a:xfrm>
          <a:prstGeom prst="rect">
            <a:avLst/>
          </a:prstGeom>
          <a:noFill/>
        </p:spPr>
        <p:txBody>
          <a:bodyPr wrap="square" lIns="0" rIns="0" tIns="0" bIns="0" anchor="t">
            <a:spAutoFit/>
          </a:bodyPr>
          <a:lstStyle/>
          <a:p>
            <a:pPr algn="l"/>
            <a:r>
              <a:rPr sz="1700" b="1" i="0">
                <a:solidFill>
                  <a:srgbClr val="E76F51"/>
                </a:solidFill>
                <a:latin typeface="Calibri"/>
              </a:rPr>
              <a:t>What likely went wrong</a:t>
            </a:r>
          </a:p>
        </p:txBody>
      </p:sp>
      <p:sp>
        <p:nvSpPr>
          <p:cNvPr id="9" name="TextBox 8"/>
          <p:cNvSpPr txBox="1"/>
          <p:nvPr/>
        </p:nvSpPr>
        <p:spPr>
          <a:xfrm>
            <a:off x="640080" y="5138928"/>
            <a:ext cx="5303520" cy="1508760"/>
          </a:xfrm>
          <a:prstGeom prst="rect">
            <a:avLst/>
          </a:prstGeom>
          <a:noFill/>
        </p:spPr>
        <p:txBody>
          <a:bodyPr wrap="square" lIns="0" rIns="0" tIns="0" bIns="0">
            <a:spAutoFit/>
          </a:bodyPr>
          <a:lstStyle/>
          <a:p>
            <a:pPr algn="l">
              <a:spcAft>
                <a:spcPts val="1000"/>
              </a:spcAft>
            </a:pPr>
            <a:r>
              <a:rPr sz="1200" b="1">
                <a:solidFill>
                  <a:srgbClr val="E76F51"/>
                </a:solidFill>
                <a:latin typeface="Calibri"/>
              </a:rPr>
              <a:t>▸  </a:t>
            </a:r>
            <a:r>
              <a:rPr sz="1200" b="0" i="0">
                <a:solidFill>
                  <a:srgbClr val="1E293B"/>
                </a:solidFill>
                <a:latin typeface="Calibri"/>
              </a:rPr>
              <a:t>Entropy trigger too aggressive on hard mazes — 13+ replans each paying full 15k-iter RRT cost</a:t>
            </a:r>
          </a:p>
          <a:p>
            <a:pPr algn="l">
              <a:spcAft>
                <a:spcPts val="1000"/>
              </a:spcAft>
            </a:pPr>
            <a:r>
              <a:rPr sz="1200" b="1">
                <a:solidFill>
                  <a:srgbClr val="E76F51"/>
                </a:solidFill>
                <a:latin typeface="Calibri"/>
              </a:rPr>
              <a:t>▸  </a:t>
            </a:r>
            <a:r>
              <a:rPr sz="1200" b="0" i="0">
                <a:solidFill>
                  <a:srgbClr val="1E293B"/>
                </a:solidFill>
                <a:latin typeface="Calibri"/>
              </a:rPr>
              <a:t>Lambda=0.30 and T=10 not re-tuned per difficulty; hard mazes may need lower T (sharper MCMC)</a:t>
            </a:r>
          </a:p>
          <a:p>
            <a:pPr algn="l">
              <a:spcAft>
                <a:spcPts val="1000"/>
              </a:spcAft>
            </a:pPr>
            <a:r>
              <a:rPr sz="1200" b="1">
                <a:solidFill>
                  <a:srgbClr val="E76F51"/>
                </a:solidFill>
                <a:latin typeface="Calibri"/>
              </a:rPr>
              <a:t>▸  </a:t>
            </a:r>
            <a:r>
              <a:rPr sz="1200" b="0" i="0">
                <a:solidFill>
                  <a:srgbClr val="1E293B"/>
                </a:solidFill>
                <a:latin typeface="Calibri"/>
              </a:rPr>
              <a:t>Info-gain weight λ_i=2.0 may over-explore on dense mazes where sensing geometry changes slowly</a:t>
            </a:r>
          </a:p>
        </p:txBody>
      </p:sp>
      <p:pic>
        <p:nvPicPr>
          <p:cNvPr id="10" name="Picture 9" descr="path_length.png"/>
          <p:cNvPicPr>
            <a:picLocks noChangeAspect="1"/>
          </p:cNvPicPr>
          <p:nvPr/>
        </p:nvPicPr>
        <p:blipFill>
          <a:blip r:embed="rId2"/>
          <a:stretch>
            <a:fillRect/>
          </a:stretch>
        </p:blipFill>
        <p:spPr>
          <a:xfrm>
            <a:off x="6400800" y="1554480"/>
            <a:ext cx="5212080" cy="4114800"/>
          </a:xfrm>
          <a:prstGeom prst="rect">
            <a:avLst/>
          </a:prstGeom>
        </p:spPr>
      </p:pic>
      <p:sp>
        <p:nvSpPr>
          <p:cNvPr id="11" name="TextBox 10"/>
          <p:cNvSpPr txBox="1"/>
          <p:nvPr/>
        </p:nvSpPr>
        <p:spPr>
          <a:xfrm>
            <a:off x="6400800" y="5715000"/>
            <a:ext cx="5212080" cy="274320"/>
          </a:xfrm>
          <a:prstGeom prst="rect">
            <a:avLst/>
          </a:prstGeom>
          <a:noFill/>
        </p:spPr>
        <p:txBody>
          <a:bodyPr wrap="square" lIns="0" rIns="0" tIns="0" bIns="0" anchor="t">
            <a:spAutoFit/>
          </a:bodyPr>
          <a:lstStyle/>
          <a:p>
            <a:pPr algn="ctr"/>
            <a:r>
              <a:rPr sz="1000" b="0" i="1">
                <a:solidFill>
                  <a:srgbClr val="64748B"/>
                </a:solidFill>
                <a:latin typeface="Calibri"/>
              </a:rPr>
              <a:t>Path length comparison — MCMC shorter when successful</a:t>
            </a:r>
          </a:p>
        </p:txBody>
      </p:sp>
      <p:sp>
        <p:nvSpPr>
          <p:cNvPr id="12" name="TextBox 11"/>
          <p:cNvSpPr txBox="1"/>
          <p:nvPr/>
        </p:nvSpPr>
        <p:spPr>
          <a:xfrm>
            <a:off x="10515600" y="6446520"/>
            <a:ext cx="1463040" cy="274320"/>
          </a:xfrm>
          <a:prstGeom prst="rect">
            <a:avLst/>
          </a:prstGeom>
          <a:noFill/>
        </p:spPr>
        <p:txBody>
          <a:bodyPr wrap="square" lIns="0" rIns="0" tIns="0" bIns="0" anchor="t">
            <a:spAutoFit/>
          </a:bodyPr>
          <a:lstStyle/>
          <a:p>
            <a:pPr algn="r"/>
            <a:r>
              <a:rPr sz="900" b="0" i="1">
                <a:solidFill>
                  <a:srgbClr val="64748B"/>
                </a:solidFill>
                <a:latin typeface="Calibri"/>
              </a:rPr>
              <a:t>6:30 – 7:10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640080"/>
            <a:ext cx="548640" cy="73152"/>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841248"/>
            <a:ext cx="10515600" cy="749808"/>
          </a:xfrm>
          <a:prstGeom prst="rect">
            <a:avLst/>
          </a:prstGeom>
          <a:noFill/>
        </p:spPr>
        <p:txBody>
          <a:bodyPr wrap="square" lIns="0" rIns="0" tIns="0" bIns="0" anchor="t">
            <a:spAutoFit/>
          </a:bodyPr>
          <a:lstStyle/>
          <a:p>
            <a:pPr algn="l"/>
            <a:r>
              <a:rPr sz="3600" b="1" i="0">
                <a:solidFill>
                  <a:srgbClr val="F8FAFC"/>
                </a:solidFill>
                <a:latin typeface="Calibri"/>
              </a:rPr>
              <a:t>What’s reusable</a:t>
            </a:r>
          </a:p>
        </p:txBody>
      </p:sp>
      <p:sp>
        <p:nvSpPr>
          <p:cNvPr id="5" name="TextBox 4"/>
          <p:cNvSpPr txBox="1"/>
          <p:nvPr/>
        </p:nvSpPr>
        <p:spPr>
          <a:xfrm>
            <a:off x="640080" y="1783080"/>
            <a:ext cx="10515600" cy="347472"/>
          </a:xfrm>
          <a:prstGeom prst="rect">
            <a:avLst/>
          </a:prstGeom>
          <a:noFill/>
        </p:spPr>
        <p:txBody>
          <a:bodyPr wrap="square" lIns="0" rIns="0" tIns="0" bIns="0" anchor="t">
            <a:spAutoFit/>
          </a:bodyPr>
          <a:lstStyle/>
          <a:p>
            <a:pPr algn="l"/>
            <a:r>
              <a:rPr sz="1300" b="0" i="1">
                <a:solidFill>
                  <a:srgbClr val="CBD5E1"/>
                </a:solidFill>
                <a:latin typeface="Calibri"/>
              </a:rPr>
              <a:t>Independent of whether goal-belief sampling wins on this benchmark, the components stand alone.</a:t>
            </a:r>
          </a:p>
        </p:txBody>
      </p:sp>
      <p:sp>
        <p:nvSpPr>
          <p:cNvPr id="6" name="Rounded Rectangle 5"/>
          <p:cNvSpPr/>
          <p:nvPr/>
        </p:nvSpPr>
        <p:spPr>
          <a:xfrm>
            <a:off x="640080" y="2331720"/>
            <a:ext cx="5440680" cy="1783080"/>
          </a:xfrm>
          <a:prstGeom prst="roundRect">
            <a:avLst/>
          </a:prstGeom>
          <a:solidFill>
            <a:srgbClr val="1A44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331720"/>
            <a:ext cx="91440" cy="1783080"/>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2560320"/>
            <a:ext cx="4937760" cy="411480"/>
          </a:xfrm>
          <a:prstGeom prst="rect">
            <a:avLst/>
          </a:prstGeom>
          <a:noFill/>
        </p:spPr>
        <p:txBody>
          <a:bodyPr wrap="square" lIns="0" rIns="0" tIns="0" bIns="0" anchor="t">
            <a:spAutoFit/>
          </a:bodyPr>
          <a:lstStyle/>
          <a:p>
            <a:pPr algn="l"/>
            <a:r>
              <a:rPr sz="1500" b="1" i="0">
                <a:solidFill>
                  <a:srgbClr val="F8FAFC"/>
                </a:solidFill>
                <a:latin typeface="Calibri"/>
              </a:rPr>
              <a:t>Modular MCMC sampler</a:t>
            </a:r>
          </a:p>
        </p:txBody>
      </p:sp>
      <p:sp>
        <p:nvSpPr>
          <p:cNvPr id="9" name="TextBox 8"/>
          <p:cNvSpPr txBox="1"/>
          <p:nvPr/>
        </p:nvSpPr>
        <p:spPr>
          <a:xfrm>
            <a:off x="987552" y="3044952"/>
            <a:ext cx="4937760" cy="960120"/>
          </a:xfrm>
          <a:prstGeom prst="rect">
            <a:avLst/>
          </a:prstGeom>
          <a:noFill/>
        </p:spPr>
        <p:txBody>
          <a:bodyPr wrap="square" lIns="0" rIns="0" tIns="0" bIns="0" anchor="t">
            <a:spAutoFit/>
          </a:bodyPr>
          <a:lstStyle/>
          <a:p>
            <a:pPr algn="l"/>
            <a:r>
              <a:rPr sz="1100" b="0" i="0">
                <a:solidFill>
                  <a:srgbClr val="CBD5E1"/>
                </a:solidFill>
                <a:latin typeface="Calibri"/>
              </a:rPr>
              <a:t>src/samplers/adaptive_goal_mcmc.py
Metropolis-Hastings + λ-mix, swappable cost function,
persistent chain state across RRT iterations.</a:t>
            </a:r>
          </a:p>
        </p:txBody>
      </p:sp>
      <p:sp>
        <p:nvSpPr>
          <p:cNvPr id="10" name="Rounded Rectangle 9"/>
          <p:cNvSpPr/>
          <p:nvPr/>
        </p:nvSpPr>
        <p:spPr>
          <a:xfrm>
            <a:off x="6263640" y="2331720"/>
            <a:ext cx="5440680" cy="1783080"/>
          </a:xfrm>
          <a:prstGeom prst="roundRect">
            <a:avLst/>
          </a:prstGeom>
          <a:solidFill>
            <a:srgbClr val="1A44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331720"/>
            <a:ext cx="91440" cy="1783080"/>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11112" y="2560320"/>
            <a:ext cx="4937760" cy="411480"/>
          </a:xfrm>
          <a:prstGeom prst="rect">
            <a:avLst/>
          </a:prstGeom>
          <a:noFill/>
        </p:spPr>
        <p:txBody>
          <a:bodyPr wrap="square" lIns="0" rIns="0" tIns="0" bIns="0" anchor="t">
            <a:spAutoFit/>
          </a:bodyPr>
          <a:lstStyle/>
          <a:p>
            <a:pPr algn="l"/>
            <a:r>
              <a:rPr sz="1500" b="1" i="0">
                <a:solidFill>
                  <a:srgbClr val="F8FAFC"/>
                </a:solidFill>
                <a:latin typeface="Calibri"/>
              </a:rPr>
              <a:t>Decoupled goal-belief module</a:t>
            </a:r>
          </a:p>
        </p:txBody>
      </p:sp>
      <p:sp>
        <p:nvSpPr>
          <p:cNvPr id="13" name="TextBox 12"/>
          <p:cNvSpPr txBox="1"/>
          <p:nvPr/>
        </p:nvSpPr>
        <p:spPr>
          <a:xfrm>
            <a:off x="6611112" y="3044952"/>
            <a:ext cx="4937760" cy="960120"/>
          </a:xfrm>
          <a:prstGeom prst="rect">
            <a:avLst/>
          </a:prstGeom>
          <a:noFill/>
        </p:spPr>
        <p:txBody>
          <a:bodyPr wrap="square" lIns="0" rIns="0" tIns="0" bIns="0" anchor="t">
            <a:spAutoFit/>
          </a:bodyPr>
          <a:lstStyle/>
          <a:p>
            <a:pPr algn="l"/>
            <a:r>
              <a:rPr sz="1100" b="0" i="0">
                <a:solidFill>
                  <a:srgbClr val="CBD5E1"/>
                </a:solidFill>
                <a:latin typeface="Calibri"/>
              </a:rPr>
              <a:t>Kalman filter with distance-dependent noise.
Monotonic covariance reduction guaranteed.
Drops into any planner that needs localize-while-plan.</a:t>
            </a:r>
          </a:p>
        </p:txBody>
      </p:sp>
      <p:sp>
        <p:nvSpPr>
          <p:cNvPr id="14" name="Rounded Rectangle 13"/>
          <p:cNvSpPr/>
          <p:nvPr/>
        </p:nvSpPr>
        <p:spPr>
          <a:xfrm>
            <a:off x="640080" y="4315968"/>
            <a:ext cx="5440680" cy="1783080"/>
          </a:xfrm>
          <a:prstGeom prst="roundRect">
            <a:avLst/>
          </a:prstGeom>
          <a:solidFill>
            <a:srgbClr val="1A44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4315968"/>
            <a:ext cx="91440" cy="1783080"/>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7552" y="4544568"/>
            <a:ext cx="4937760" cy="411480"/>
          </a:xfrm>
          <a:prstGeom prst="rect">
            <a:avLst/>
          </a:prstGeom>
          <a:noFill/>
        </p:spPr>
        <p:txBody>
          <a:bodyPr wrap="square" lIns="0" rIns="0" tIns="0" bIns="0" anchor="t">
            <a:spAutoFit/>
          </a:bodyPr>
          <a:lstStyle/>
          <a:p>
            <a:pPr algn="l"/>
            <a:r>
              <a:rPr sz="1500" b="1" i="0">
                <a:solidFill>
                  <a:srgbClr val="F8FAFC"/>
                </a:solidFill>
                <a:latin typeface="Calibri"/>
              </a:rPr>
              <a:t>Evaluation harness</a:t>
            </a:r>
          </a:p>
        </p:txBody>
      </p:sp>
      <p:sp>
        <p:nvSpPr>
          <p:cNvPr id="17" name="TextBox 16"/>
          <p:cNvSpPr txBox="1"/>
          <p:nvPr/>
        </p:nvSpPr>
        <p:spPr>
          <a:xfrm>
            <a:off x="987552" y="5029200"/>
            <a:ext cx="4937760" cy="960120"/>
          </a:xfrm>
          <a:prstGeom prst="rect">
            <a:avLst/>
          </a:prstGeom>
          <a:noFill/>
        </p:spPr>
        <p:txBody>
          <a:bodyPr wrap="square" lIns="0" rIns="0" tIns="0" bIns="0" anchor="t">
            <a:spAutoFit/>
          </a:bodyPr>
          <a:lstStyle/>
          <a:p>
            <a:pPr algn="l"/>
            <a:r>
              <a:rPr sz="1100" b="0" i="0">
                <a:solidFill>
                  <a:srgbClr val="CBD5E1"/>
                </a:solidFill>
                <a:latin typeface="Calibri"/>
              </a:rPr>
              <a:t>180-trial batch runner with statistical tests:
Mann-Whitney U, chi-square, Cohen’s d.
Per-trial telemetry: belief trace, replans, path.</a:t>
            </a:r>
          </a:p>
        </p:txBody>
      </p:sp>
      <p:sp>
        <p:nvSpPr>
          <p:cNvPr id="18" name="Rounded Rectangle 17"/>
          <p:cNvSpPr/>
          <p:nvPr/>
        </p:nvSpPr>
        <p:spPr>
          <a:xfrm>
            <a:off x="6263640" y="4315968"/>
            <a:ext cx="5440680" cy="1783080"/>
          </a:xfrm>
          <a:prstGeom prst="roundRect">
            <a:avLst/>
          </a:prstGeom>
          <a:solidFill>
            <a:srgbClr val="1A44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63640" y="4315968"/>
            <a:ext cx="91440" cy="1783080"/>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11112" y="4544568"/>
            <a:ext cx="4937760" cy="411480"/>
          </a:xfrm>
          <a:prstGeom prst="rect">
            <a:avLst/>
          </a:prstGeom>
          <a:noFill/>
        </p:spPr>
        <p:txBody>
          <a:bodyPr wrap="square" lIns="0" rIns="0" tIns="0" bIns="0" anchor="t">
            <a:spAutoFit/>
          </a:bodyPr>
          <a:lstStyle/>
          <a:p>
            <a:pPr algn="l"/>
            <a:r>
              <a:rPr sz="1500" b="1" i="0">
                <a:solidFill>
                  <a:srgbClr val="F8FAFC"/>
                </a:solidFill>
                <a:latin typeface="Calibri"/>
              </a:rPr>
              <a:t>Benchmark dataset</a:t>
            </a:r>
          </a:p>
        </p:txBody>
      </p:sp>
      <p:sp>
        <p:nvSpPr>
          <p:cNvPr id="21" name="TextBox 20"/>
          <p:cNvSpPr txBox="1"/>
          <p:nvPr/>
        </p:nvSpPr>
        <p:spPr>
          <a:xfrm>
            <a:off x="6611112" y="5029200"/>
            <a:ext cx="4937760" cy="960120"/>
          </a:xfrm>
          <a:prstGeom prst="rect">
            <a:avLst/>
          </a:prstGeom>
          <a:noFill/>
        </p:spPr>
        <p:txBody>
          <a:bodyPr wrap="square" lIns="0" rIns="0" tIns="0" bIns="0" anchor="t">
            <a:spAutoFit/>
          </a:bodyPr>
          <a:lstStyle/>
          <a:p>
            <a:pPr algn="l"/>
            <a:r>
              <a:rPr sz="1100" b="0" i="0">
                <a:solidFill>
                  <a:srgbClr val="CBD5E1"/>
                </a:solidFill>
                <a:latin typeface="Calibri"/>
              </a:rPr>
              <a:t>3 difficulty levels × 30 seeds × 2 agents.
Full JSON telemetry for each trial.
Reproducible via seed — same mazes every run.</a:t>
            </a:r>
          </a:p>
        </p:txBody>
      </p:sp>
      <p:sp>
        <p:nvSpPr>
          <p:cNvPr id="22" name="TextBox 21"/>
          <p:cNvSpPr txBox="1"/>
          <p:nvPr/>
        </p:nvSpPr>
        <p:spPr>
          <a:xfrm>
            <a:off x="640080" y="6245352"/>
            <a:ext cx="10515600" cy="365760"/>
          </a:xfrm>
          <a:prstGeom prst="rect">
            <a:avLst/>
          </a:prstGeom>
          <a:noFill/>
        </p:spPr>
        <p:txBody>
          <a:bodyPr wrap="square" lIns="0" rIns="0" tIns="0" bIns="0" anchor="t">
            <a:spAutoFit/>
          </a:bodyPr>
          <a:lstStyle/>
          <a:p>
            <a:pPr algn="ctr"/>
            <a:r>
              <a:rPr sz="1200" b="0" i="1">
                <a:solidFill>
                  <a:srgbClr val="00A896"/>
                </a:solidFill>
                <a:latin typeface="Calibri"/>
              </a:rPr>
              <a:t>And: the rejected MCMC samples turn out to be useful training data on their own — separate project on C-space topology learning.</a:t>
            </a:r>
          </a:p>
        </p:txBody>
      </p:sp>
      <p:sp>
        <p:nvSpPr>
          <p:cNvPr id="23" name="TextBox 22"/>
          <p:cNvSpPr txBox="1"/>
          <p:nvPr/>
        </p:nvSpPr>
        <p:spPr>
          <a:xfrm>
            <a:off x="10515600" y="6446520"/>
            <a:ext cx="1463040" cy="274320"/>
          </a:xfrm>
          <a:prstGeom prst="rect">
            <a:avLst/>
          </a:prstGeom>
          <a:noFill/>
        </p:spPr>
        <p:txBody>
          <a:bodyPr wrap="square" lIns="0" rIns="0" tIns="0" bIns="0" anchor="t">
            <a:spAutoFit/>
          </a:bodyPr>
          <a:lstStyle/>
          <a:p>
            <a:pPr algn="r"/>
            <a:r>
              <a:rPr sz="900" b="0" i="1">
                <a:solidFill>
                  <a:srgbClr val="64748B"/>
                </a:solidFill>
                <a:latin typeface="Calibri"/>
              </a:rPr>
              <a:t>7:10 – 7:45</a:t>
            </a:r>
          </a:p>
        </p:txBody>
      </p:sp>
    </p:spTree>
  </p:cSld>
  <p:clrMapOvr>
    <a:masterClrMapping/>
  </p:clrMapOvr>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3175" cap="flat">
          <a:noFill/>
          <a:miter lim="400000"/>
        </a:ln>
        <a:effectLst/>
        <a:sp3d/>
      </a:spPr>
      <a:bodyPr rot="0" spcFirstLastPara="1" vertOverflow="overflow" horzOverflow="overflow" vert="horz" wrap="square" lIns="0" tIns="0" rIns="0" bIns="0" numCol="1" spcCol="38100" rtlCol="0" anchor="ctr" upright="0">
        <a:spAutoFit/>
      </a:bodyPr>
      <a:lstStyle>
        <a:defPPr marL="0" marR="0" indent="0" algn="ctr" defTabSz="440266"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3175"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3175" cap="flat">
          <a:noFill/>
          <a:miter lim="400000"/>
        </a:ln>
        <a:effectLst/>
        <a:sp3d/>
      </a:spPr>
      <a:bodyPr rot="0" spcFirstLastPara="1" vertOverflow="overflow" horzOverflow="overflow" vert="horz" wrap="square" lIns="14449" tIns="14449" rIns="14449" bIns="14449" numCol="1" spcCol="38100" rtlCol="0" anchor="ctr" upright="0">
        <a:spAutoFit/>
      </a:bodyPr>
      <a:lstStyle>
        <a:defPPr marL="0" marR="0" indent="0" algn="l" defTabSz="440266" rtl="0" fontAlgn="auto" latinLnBrk="0" hangingPunct="0">
          <a:lnSpc>
            <a:spcPct val="100000"/>
          </a:lnSpc>
          <a:spcBef>
            <a:spcPts val="3100"/>
          </a:spcBef>
          <a:spcAft>
            <a:spcPts val="0"/>
          </a:spcAft>
          <a:buClrTx/>
          <a:buSzTx/>
          <a:buFontTx/>
          <a:buNone/>
          <a:tabLst/>
          <a:defRPr b="0" baseline="0" cap="none" i="0" spc="0" strike="noStrike" sz="24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3175" cap="flat">
          <a:noFill/>
          <a:miter lim="400000"/>
        </a:ln>
        <a:effectLst/>
        <a:sp3d/>
      </a:spPr>
      <a:bodyPr rot="0" spcFirstLastPara="1" vertOverflow="overflow" horzOverflow="overflow" vert="horz" wrap="square" lIns="0" tIns="0" rIns="0" bIns="0" numCol="1" spcCol="38100" rtlCol="0" anchor="ctr" upright="0">
        <a:spAutoFit/>
      </a:bodyPr>
      <a:lstStyle>
        <a:defPPr marL="0" marR="0" indent="0" algn="ctr" defTabSz="440266"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3175"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3175" cap="flat">
          <a:noFill/>
          <a:miter lim="400000"/>
        </a:ln>
        <a:effectLst/>
        <a:sp3d/>
      </a:spPr>
      <a:bodyPr rot="0" spcFirstLastPara="1" vertOverflow="overflow" horzOverflow="overflow" vert="horz" wrap="square" lIns="14449" tIns="14449" rIns="14449" bIns="14449" numCol="1" spcCol="38100" rtlCol="0" anchor="ctr" upright="0">
        <a:spAutoFit/>
      </a:bodyPr>
      <a:lstStyle>
        <a:defPPr marL="0" marR="0" indent="0" algn="l" defTabSz="440266" rtl="0" fontAlgn="auto" latinLnBrk="0" hangingPunct="0">
          <a:lnSpc>
            <a:spcPct val="100000"/>
          </a:lnSpc>
          <a:spcBef>
            <a:spcPts val="3100"/>
          </a:spcBef>
          <a:spcAft>
            <a:spcPts val="0"/>
          </a:spcAft>
          <a:buClrTx/>
          <a:buSzTx/>
          <a:buFontTx/>
          <a:buNone/>
          <a:tabLst/>
          <a:defRPr b="0" baseline="0" cap="none" i="0" spc="0" strike="noStrike" sz="24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